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</p:sldIdLst>
  <p:sldSz cx="12193588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hLl6JfAoimCsWEm9GX5yCz9dp2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2DA1EE-E1A7-4EED-A6F2-DAB20566E365}">
  <a:tblStyle styleId="{9F2DA1EE-E1A7-4EED-A6F2-DAB20566E36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620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6 minutos son aproximados: salen de la hora en que partió la carga y la hora del archivo de registro. El resto son mediciones directas de los scripts. El escaneo va a ~1 página por segundo.</a:t>
            </a:r>
          </a:p>
          <a:p>
            <a:r>
              <a:t>Las mallas fueron lo más lento porque cada documento se subió por la API con su propia petición: Vercel lo trocea, calcula el vector y lo guarda en Supabase. Una carga en bloque sería bastante más rápida, pero así se probó el mismo camino que usa una empresa real.</a:t>
            </a:r>
          </a:p>
          <a:p>
            <a:r>
              <a:t>No cuenta en los 26 minutos: bajar las mallas desde malla.duoc.cl y armar los resúmenes por escuela, que se hizo antes, en local.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 un grafo de LangGraph (proyecto/docs/motor-langgraph.md). El RAG es el paso 3: la búsqueda filtra por empresa y por tipo de agente, así que una empresa nunca ve los documentos de otra.</a:t>
            </a:r>
          </a:p>
          <a:p>
            <a:r>
              <a:t>Los pasos 1, 5 y 6 nunca dejan al cliente sin respuesta: si la IA falla o tarda más de 8 s, sigue con lo que había. Por eso existe el paso 7, que no usa IA.</a:t>
            </a:r>
          </a:p>
          <a:p>
            <a:r>
              <a:t>Si el bot no encuentra nada dos veces, ofrece hablar con una persona: un ejecutivo en vivo, o un ticket si no hay nadie.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 tres preguntas se probaron en el chat de producción el 16-10-2026 y respondieron bien (tiempos de la tabla). Usar el botón para pedir una persona: escribir «quiero hablar con una persona» no deriva.</a:t>
            </a:r>
          </a:p>
          <a:p>
            <a:r>
              <a:t>Evitar en vivo: «¿qué becas hay?» (expande mal la sigla FUAS), «¿qué carreras de informática hay?» (a veces no encuentra el resumen) y preguntas ajenas como «¿cuánto es 4+4?» (si la IA está saturada, la verificación se salta).</a:t>
            </a:r>
          </a:p>
          <a:p>
            <a:r>
              <a:t>Si falla la conexión, la diapositiva siguiente tiene las capturas.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Capturas de producción del 16-10-2026 (Evidencias de sistema Aplicación Base de datos/Aplicación). Arriba, el chat de Duoc UC. Abajo, el chat de Directa, que responde con su propia base, y la consola de su ejecutiva con una derivación en vivo. Esa conversación viene de los datos de demostración: en el chat real se deriva con el botón, no escribiéndolo.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402 pruebas: pytest --collect-only al 16-10-2026. El CI corre la suite en SQLite y en PostgreSQL 16 con pgvector, más el build del frontend (Evidencias de documentación).</a:t>
            </a:r>
          </a:p>
          <a:p>
            <a:r>
              <a:t>78,3 %: última medición sin la IA (proyecto/docs/evaluacion-motor.md). Con la IA como respaldo debería subir; falta medirlo con el banco anotado y la matriz de confusión para el informe final.</a:t>
            </a:r>
          </a:p>
          <a:p>
            <a:r>
              <a:t>59 de 60: el semestre pedido llega a los 5 pasajes que recibe el bot. 4 de 4: preguntas de semestre y certificaciones hechas en producción.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Detalle en proyecto/docs/adr/0001-despliegue.md (Vercel) y proyecto/docs/busqueda.md (búsqueda).</a:t>
            </a:r>
          </a:p>
          <a:p>
            <a:r>
              <a:t>La búsqueda usa embeddings «hash», por palabras: no hay proveedor de embeddings contratado. Azure OpenAI está programado y se activa con una variable de entorno.</a:t>
            </a:r>
          </a:p>
          <a:p>
            <a:r>
              <a:t>FUAS es el Formulario Único de Acreditación Socioeconómica; el bot lo llamó «Fondo Único de Asignación de Subsidios» (16-10-2026).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6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7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8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9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20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21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22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2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!!rueda-cuna-1" descr="cuna-documento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!!rueda-icono-1" descr="icono-documento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endParaRPr/>
          </a:p>
        </p:txBody>
      </p:sp>
      <p:pic>
        <p:nvPicPr>
          <p:cNvPr id="99" name="Google Shape;99;p1" descr="bot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632000" y="2808000"/>
            <a:ext cx="4398545" cy="345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/>
          <p:nvPr/>
        </p:nvSpPr>
        <p:spPr>
          <a:xfrm>
            <a:off x="3960000" y="1512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3960000" y="1764000"/>
            <a:ext cx="7740000" cy="23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Chatbot de Soporte</a:t>
            </a:r>
            <a:endParaRPr/>
          </a:p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Genérico</a:t>
            </a:r>
            <a:endParaRPr/>
          </a:p>
        </p:txBody>
      </p:sp>
      <p:sp>
        <p:nvSpPr>
          <p:cNvPr id="102" name="Google Shape;102;p1"/>
          <p:cNvSpPr txBox="1"/>
          <p:nvPr/>
        </p:nvSpPr>
        <p:spPr>
          <a:xfrm>
            <a:off x="3960000" y="4031999"/>
            <a:ext cx="4320000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Una plataforma de soporte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para todas las empresas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cliente de Alloxentric.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3960000" y="5400000"/>
            <a:ext cx="52560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Grupo 2 · Duoc UC · Sede Antonio Varas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Exequiel · Diana · Manuel · Cristian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Profesor: Arturo Guerra Castro</a:t>
            </a:r>
            <a:endParaRPr/>
          </a:p>
        </p:txBody>
      </p:sp>
      <p:pic>
        <p:nvPicPr>
          <p:cNvPr id="104" name="Google Shape;104;p1" descr="Alloxentric-logo-full-color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9144000" y="540000"/>
            <a:ext cx="23652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"/>
          <p:cNvSpPr/>
          <p:nvPr/>
        </p:nvSpPr>
        <p:spPr>
          <a:xfrm>
            <a:off x="8874000" y="486000"/>
            <a:ext cx="18000" cy="648000"/>
          </a:xfrm>
          <a:prstGeom prst="rect">
            <a:avLst/>
          </a:prstGeom>
          <a:solidFill>
            <a:srgbClr val="9EB5A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" descr="duoc-uc-logo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6406199" y="540000"/>
            <a:ext cx="2197800" cy="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!!rueda-cuna-2" descr="cuna-chat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!!rueda-icono-2" descr="icono-chat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EQUIPO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3959999" y="1166716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Integrantes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del Proyecto</a:t>
            </a:r>
            <a:endParaRPr dirty="0"/>
          </a:p>
        </p:txBody>
      </p:sp>
      <p:sp>
        <p:nvSpPr>
          <p:cNvPr id="128" name="Google Shape;128;p2"/>
          <p:cNvSpPr/>
          <p:nvPr/>
        </p:nvSpPr>
        <p:spPr>
          <a:xfrm>
            <a:off x="3960000" y="26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4121999" y="28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</a:t>
            </a: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4824000" y="28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Exequiel Alvarado</a:t>
            </a: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4824000" y="31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Desarrollo (backend, frontend, infraestructura)</a:t>
            </a:r>
            <a:endParaRPr/>
          </a:p>
        </p:txBody>
      </p:sp>
      <p:sp>
        <p:nvSpPr>
          <p:cNvPr id="132" name="Google Shape;132;p2"/>
          <p:cNvSpPr/>
          <p:nvPr/>
        </p:nvSpPr>
        <p:spPr>
          <a:xfrm>
            <a:off x="3960000" y="35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4121999" y="37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DG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4824000" y="37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Diana Guerrero</a:t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4824000" y="40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Coordinación</a:t>
            </a:r>
            <a:r>
              <a:rPr lang="en-US" sz="1689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/ Product Owner, </a:t>
            </a:r>
            <a:r>
              <a:rPr lang="en-US" sz="1689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planificación</a:t>
            </a:r>
            <a:r>
              <a:rPr lang="en-US" sz="1689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Jira</a:t>
            </a:r>
            <a:endParaRPr dirty="0"/>
          </a:p>
        </p:txBody>
      </p:sp>
      <p:sp>
        <p:nvSpPr>
          <p:cNvPr id="136" name="Google Shape;136;p2"/>
          <p:cNvSpPr/>
          <p:nvPr/>
        </p:nvSpPr>
        <p:spPr>
          <a:xfrm>
            <a:off x="3960000" y="44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4121999" y="46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MJ</a:t>
            </a:r>
            <a:endParaRPr/>
          </a:p>
        </p:txBody>
      </p:sp>
      <p:sp>
        <p:nvSpPr>
          <p:cNvPr id="138" name="Google Shape;138;p2"/>
          <p:cNvSpPr/>
          <p:nvPr/>
        </p:nvSpPr>
        <p:spPr>
          <a:xfrm>
            <a:off x="4824000" y="46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Manuel Jansen</a:t>
            </a:r>
            <a:endParaRPr/>
          </a:p>
        </p:txBody>
      </p:sp>
      <p:sp>
        <p:nvSpPr>
          <p:cNvPr id="139" name="Google Shape;139;p2"/>
          <p:cNvSpPr/>
          <p:nvPr/>
        </p:nvSpPr>
        <p:spPr>
          <a:xfrm>
            <a:off x="4824000" y="49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Diseño de interfaz y mockups</a:t>
            </a:r>
            <a:endParaRPr/>
          </a:p>
        </p:txBody>
      </p:sp>
      <p:sp>
        <p:nvSpPr>
          <p:cNvPr id="140" name="Google Shape;140;p2"/>
          <p:cNvSpPr/>
          <p:nvPr/>
        </p:nvSpPr>
        <p:spPr>
          <a:xfrm>
            <a:off x="3960000" y="53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4121999" y="55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CJ</a:t>
            </a:r>
            <a:endParaRPr/>
          </a:p>
        </p:txBody>
      </p:sp>
      <p:sp>
        <p:nvSpPr>
          <p:cNvPr id="142" name="Google Shape;142;p2"/>
          <p:cNvSpPr/>
          <p:nvPr/>
        </p:nvSpPr>
        <p:spPr>
          <a:xfrm>
            <a:off x="4824000" y="55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Cristian Jorquera</a:t>
            </a:r>
            <a:endParaRPr/>
          </a:p>
        </p:txBody>
      </p:sp>
      <p:sp>
        <p:nvSpPr>
          <p:cNvPr id="143" name="Google Shape;143;p2"/>
          <p:cNvSpPr/>
          <p:nvPr/>
        </p:nvSpPr>
        <p:spPr>
          <a:xfrm>
            <a:off x="4824000" y="58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Aseguramiento de calidad, historias de usuario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!!rueda-cuna-3" descr="cuna-agentes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!!rueda-icono-3" descr="icono-agentes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EL CASO</a:t>
            </a:r>
            <a:endParaRPr/>
          </a:p>
        </p:txBody>
      </p:sp>
      <p:sp>
        <p:nvSpPr>
          <p:cNvPr id="165" name="Google Shape;165;p3"/>
          <p:cNvSpPr txBox="1"/>
          <p:nvPr/>
        </p:nvSpPr>
        <p:spPr>
          <a:xfrm>
            <a:off x="3959999" y="1111108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Descripci</a:t>
            </a:r>
            <a:r>
              <a:rPr lang="en-US" sz="50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ón</a:t>
            </a:r>
            <a:r>
              <a:rPr lang="en-US" sz="50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del Proyecto</a:t>
            </a:r>
            <a:endParaRPr dirty="0"/>
          </a:p>
        </p:txBody>
      </p:sp>
      <p:pic>
        <p:nvPicPr>
          <p:cNvPr id="166" name="Google Shape;166;p3" descr="ventana-chat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856000" y="3816000"/>
            <a:ext cx="3024000" cy="23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"/>
          <p:cNvSpPr txBox="1"/>
          <p:nvPr/>
        </p:nvSpPr>
        <p:spPr>
          <a:xfrm>
            <a:off x="3959999" y="2445184"/>
            <a:ext cx="453600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 dirty="0" err="1">
                <a:solidFill>
                  <a:srgbClr val="D95433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r>
              <a:rPr lang="en-US" sz="1900" b="1" i="0" u="none" strike="noStrike" cap="none" dirty="0">
                <a:solidFill>
                  <a:srgbClr val="D95433"/>
                </a:solidFill>
                <a:latin typeface="Calibri"/>
                <a:ea typeface="Calibri"/>
                <a:cs typeface="Calibri"/>
                <a:sym typeface="Calibri"/>
              </a:rPr>
              <a:t> o dolor</a:t>
            </a:r>
            <a:endParaRPr dirty="0"/>
          </a:p>
        </p:txBody>
      </p:sp>
      <p:sp>
        <p:nvSpPr>
          <p:cNvPr id="168" name="Google Shape;168;p3"/>
          <p:cNvSpPr/>
          <p:nvPr/>
        </p:nvSpPr>
        <p:spPr>
          <a:xfrm>
            <a:off x="3959999" y="2828194"/>
            <a:ext cx="4536000" cy="1512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Atender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consultas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soporte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humano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producto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es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caro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no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escala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Cada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empresa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tiene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su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documentación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 hoy es un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desarrollo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medida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169" name="Google Shape;169;p3"/>
          <p:cNvSpPr txBox="1"/>
          <p:nvPr/>
        </p:nvSpPr>
        <p:spPr>
          <a:xfrm>
            <a:off x="3959999" y="4624862"/>
            <a:ext cx="453600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 dirty="0" err="1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Propuesta</a:t>
            </a:r>
            <a:r>
              <a:rPr lang="en-US" sz="1900" b="1" i="0" u="none" strike="noStrike" cap="none" dirty="0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900" b="1" i="0" u="none" strike="noStrike" cap="none" dirty="0" err="1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dirty="0"/>
          </a:p>
        </p:txBody>
      </p:sp>
      <p:sp>
        <p:nvSpPr>
          <p:cNvPr id="170" name="Google Shape;170;p3"/>
          <p:cNvSpPr/>
          <p:nvPr/>
        </p:nvSpPr>
        <p:spPr>
          <a:xfrm>
            <a:off x="3959999" y="5013804"/>
            <a:ext cx="4536000" cy="1152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Una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plataforma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multiempresa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cada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carga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su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conocimiento.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980"/>
              </a:spcBef>
              <a:spcAft>
                <a:spcPts val="0"/>
              </a:spcAft>
              <a:buNone/>
            </a:pP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Dos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agentes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empresa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derivación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humano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cuando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hace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falta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171" name="Google Shape;171;p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!!rueda-cuna-4" descr="cuna-derivacion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!!rueda-icono-4" descr="icono-derivacion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4"/>
          <p:cNvSpPr txBox="1"/>
          <p:nvPr/>
        </p:nvSpPr>
        <p:spPr>
          <a:xfrm>
            <a:off x="-685276" y="2736000"/>
            <a:ext cx="30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endParaRPr/>
          </a:p>
        </p:txBody>
      </p:sp>
      <p:sp>
        <p:nvSpPr>
          <p:cNvPr id="191" name="Google Shape;191;p4"/>
          <p:cNvSpPr txBox="1"/>
          <p:nvPr/>
        </p:nvSpPr>
        <p:spPr>
          <a:xfrm>
            <a:off x="3995999" y="3565236"/>
            <a:ext cx="7549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r>
              <a:rPr lang="en-US" sz="1800" b="1" i="0" u="none" strike="noStrike" cap="none" dirty="0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i="0" u="none" strike="noStrike" cap="none" dirty="0" err="1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Específicos</a:t>
            </a:r>
            <a:endParaRPr dirty="0"/>
          </a:p>
        </p:txBody>
      </p:sp>
      <p:sp>
        <p:nvSpPr>
          <p:cNvPr id="192" name="Google Shape;192;p4"/>
          <p:cNvSpPr txBox="1"/>
          <p:nvPr/>
        </p:nvSpPr>
        <p:spPr>
          <a:xfrm>
            <a:off x="3959999" y="1130230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General</a:t>
            </a:r>
            <a:endParaRPr dirty="0"/>
          </a:p>
        </p:txBody>
      </p:sp>
      <p:pic>
        <p:nvPicPr>
          <p:cNvPr id="193" name="Google Shape;193;p4" descr="empresas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784000" y="3816000"/>
            <a:ext cx="3024000" cy="23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4"/>
          <p:cNvSpPr/>
          <p:nvPr/>
        </p:nvSpPr>
        <p:spPr>
          <a:xfrm>
            <a:off x="3959999" y="2016000"/>
            <a:ext cx="75492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3959999" y="2037600"/>
            <a:ext cx="64800" cy="12528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4"/>
          <p:cNvSpPr/>
          <p:nvPr/>
        </p:nvSpPr>
        <p:spPr>
          <a:xfrm>
            <a:off x="4265999" y="2232000"/>
            <a:ext cx="7009200" cy="90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Que cualquier empresa cliente de Alloxentric ofrezca a sus usuarios una primera línea de atención automatizada, con respaldo humano.</a:t>
            </a:r>
            <a:endParaRPr/>
          </a:p>
        </p:txBody>
      </p:sp>
      <p:sp>
        <p:nvSpPr>
          <p:cNvPr id="197" name="Google Shape;197;p4"/>
          <p:cNvSpPr/>
          <p:nvPr/>
        </p:nvSpPr>
        <p:spPr>
          <a:xfrm>
            <a:off x="3959999" y="3914700"/>
            <a:ext cx="5256000" cy="2232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Administrar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documentos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, FAQ y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agentes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Ingerir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vectorizar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el conocimiento.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Responder con un motor RAG y dos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agentes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Derivar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a un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humano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, o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dejar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ticket.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Medir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actividad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consumo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9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empresa</a:t>
            </a:r>
            <a:r>
              <a:rPr lang="en-US" sz="19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198" name="Google Shape;198;p4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!!rueda-cuna-5" descr="cuna-datos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!!rueda-icono-5" descr="icono-datos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endParaRPr/>
          </a:p>
        </p:txBody>
      </p:sp>
      <p:sp>
        <p:nvSpPr>
          <p:cNvPr id="219" name="Google Shape;219;p5"/>
          <p:cNvSpPr txBox="1"/>
          <p:nvPr/>
        </p:nvSpPr>
        <p:spPr>
          <a:xfrm>
            <a:off x="3959999" y="702788"/>
            <a:ext cx="7549200" cy="1538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del Proyecto</a:t>
            </a:r>
            <a:endParaRPr dirty="0"/>
          </a:p>
        </p:txBody>
      </p:sp>
      <p:sp>
        <p:nvSpPr>
          <p:cNvPr id="220" name="Google Shape;220;p5"/>
          <p:cNvSpPr/>
          <p:nvPr/>
        </p:nvSpPr>
        <p:spPr>
          <a:xfrm>
            <a:off x="3959998" y="2235437"/>
            <a:ext cx="7506349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3959998" y="2257037"/>
            <a:ext cx="134643" cy="3628800"/>
          </a:xfrm>
          <a:prstGeom prst="rect">
            <a:avLst/>
          </a:prstGeom>
          <a:solidFill>
            <a:srgbClr val="046B7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4265998" y="2433437"/>
            <a:ext cx="6459125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3" name="Google Shape;223;p5"/>
          <p:cNvSpPr/>
          <p:nvPr/>
        </p:nvSpPr>
        <p:spPr>
          <a:xfrm>
            <a:off x="4265998" y="2361438"/>
            <a:ext cx="6459125" cy="334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Módulo </a:t>
            </a: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multi-tenant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Una sola instalación sirve para todas las empresas.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Orquestación con </a:t>
            </a: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LangChain y LangGraph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para el motor conversacional: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Un grafo de siete pasos que verifica cada respuesta en vez de un motor artesanal.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Ingesta de documentos: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Subida de PDF, Word, texto y </a:t>
            </a:r>
            <a:r>
              <a:rPr lang="es-CL" sz="1500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Markdown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Dos Agentes: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Agente comercial y agente técnico, en caso de no resolver la duda del usuario se deriva a un agente humano.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Ticketera: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En caso de no disponibilidad de agentes humanos se derivan tickets.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Conexión a </a:t>
            </a: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Groq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por cliente: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API Key independiente por cada empresa.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Dashboards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s-CL" sz="1500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general para administrador de plataforma además de </a:t>
            </a:r>
            <a:r>
              <a:rPr lang="es-CL" sz="1500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dashboards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por empresa.</a:t>
            </a:r>
            <a:endParaRPr lang="es-CL" sz="1500" dirty="0"/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Limitaciones: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sin WhatsApp, telefonía, redes ni facturación por uso.</a:t>
            </a:r>
          </a:p>
        </p:txBody>
      </p:sp>
      <p:sp>
        <p:nvSpPr>
          <p:cNvPr id="228" name="Google Shape;228;p5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PLAN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Release Plan del Proyecto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923464"/>
              </p:ext>
            </p:extLst>
          </p:nvPr>
        </p:nvGraphicFramePr>
        <p:xfrm>
          <a:off x="3960000" y="1846641"/>
          <a:ext cx="7873199" cy="3803836"/>
        </p:xfrm>
        <a:graphic>
          <a:graphicData uri="http://schemas.openxmlformats.org/drawingml/2006/table">
            <a:tbl>
              <a:tblPr/>
              <a:tblGrid>
                <a:gridCol w="1216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51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1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11-12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59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del sprint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 básica del frontend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Integrar base de datos y motor conversacional (LangChain)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Mejorar page scraper y subida de documentos para el chat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Integrar la ticketera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 final: estabilización, pruebas y despliegue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98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Historias de </a:t>
                      </a:r>
                      <a:r>
                        <a:rPr lang="en-US" sz="1200" b="1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</a:t>
                      </a: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en-US" sz="1200" b="1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principales</a:t>
                      </a: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HU-129 Dashboard Global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HU-122 Dashboard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endParaRPr lang="en-US" sz="1200" dirty="0">
                        <a:solidFill>
                          <a:srgbClr val="1F2937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HU-96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Idiomas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y modo claro/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oscuro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Aislamiento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entre tenants.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HU-102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Conversación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final.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HU-119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Clasificador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intención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HU-145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filtrada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HU-42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Pantalla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con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procesamiento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HU-123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Historial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HU-35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Derivación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ejecutivo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disponible.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HU-128 Vista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tickets.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HU-59 Api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 (5)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/ bugs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4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prototipo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</a:t>
                      </a: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 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9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!!rueda-cuna-3" descr="cuna-agentes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!!rueda-icono-3" descr="icono-agentes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9"/>
          <p:cNvSpPr txBox="1"/>
          <p:nvPr/>
        </p:nvSpPr>
        <p:spPr>
          <a:xfrm>
            <a:off x="-511634" y="2686943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DESPLIEGUE</a:t>
            </a:r>
            <a:endParaRPr/>
          </a:p>
        </p:txBody>
      </p:sp>
      <p:sp>
        <p:nvSpPr>
          <p:cNvPr id="384" name="Google Shape;384;p9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3" name="Google Shape;297;p8">
            <a:extLst>
              <a:ext uri="{FF2B5EF4-FFF2-40B4-BE49-F238E27FC236}">
                <a16:creationId xmlns:a16="http://schemas.microsoft.com/office/drawing/2014/main" id="{7C2C9260-9014-E683-67CA-590C62768FEC}"/>
              </a:ext>
            </a:extLst>
          </p:cNvPr>
          <p:cNvSpPr txBox="1"/>
          <p:nvPr/>
        </p:nvSpPr>
        <p:spPr>
          <a:xfrm>
            <a:off x="3959352" y="320040"/>
            <a:ext cx="6838744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Diagrama de despliegue</a:t>
            </a:r>
            <a:endParaRPr dirty="0"/>
          </a:p>
        </p:txBody>
      </p:sp>
      <p:pic>
        <p:nvPicPr>
          <p:cNvPr id="385" name="Picture 384" descr="diagrama-despliegu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26972" y="1051560"/>
            <a:ext cx="8959335" cy="51663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0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2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!!rueda-cuna-4" descr="cuna-derivacion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!!rueda-icono-4" descr="icono-derivacion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10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MÉTODO</a:t>
            </a:r>
            <a:endParaRPr/>
          </a:p>
        </p:txBody>
      </p:sp>
      <p:sp>
        <p:nvSpPr>
          <p:cNvPr id="406" name="Google Shape;406;p10"/>
          <p:cNvSpPr txBox="1"/>
          <p:nvPr/>
        </p:nvSpPr>
        <p:spPr>
          <a:xfrm>
            <a:off x="3992400" y="640275"/>
            <a:ext cx="75492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r>
              <a:rPr lang="en-US" sz="48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48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trabajo</a:t>
            </a:r>
            <a:r>
              <a:rPr lang="en-US" sz="48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para el Desarrollo del </a:t>
            </a:r>
            <a:r>
              <a:rPr lang="en-US" sz="48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proyecto</a:t>
            </a:r>
            <a:endParaRPr sz="4800" dirty="0"/>
          </a:p>
        </p:txBody>
      </p:sp>
      <p:sp>
        <p:nvSpPr>
          <p:cNvPr id="407" name="Google Shape;407;p10"/>
          <p:cNvSpPr/>
          <p:nvPr/>
        </p:nvSpPr>
        <p:spPr>
          <a:xfrm>
            <a:off x="3960000" y="2268093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Scrum </a:t>
            </a:r>
            <a:r>
              <a:rPr lang="en-US" sz="220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adaptado</a:t>
            </a:r>
            <a:r>
              <a:rPr lang="en-US" sz="220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408" name="Google Shape;408;p10"/>
          <p:cNvSpPr/>
          <p:nvPr/>
        </p:nvSpPr>
        <p:spPr>
          <a:xfrm>
            <a:off x="39600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960000" y="3189600"/>
            <a:ext cx="64800" cy="2908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42660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049A95"/>
                </a:solidFill>
                <a:latin typeface="Calibri"/>
                <a:ea typeface="Calibri"/>
                <a:cs typeface="Calibri"/>
                <a:sym typeface="Calibri"/>
              </a:rPr>
              <a:t>RITMO</a:t>
            </a: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42660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Sprints de dos semanas.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27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Daily asíncrona por escrito.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27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Review con demo sobre la app desplegada.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27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Retrospectiva al cierre.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78966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7896600" y="3189600"/>
            <a:ext cx="64800" cy="29088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82026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CALIDAD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82026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ruff y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cada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push.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3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Prueba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aislamiento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entre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empresas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3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prueba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3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Un ADR corto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decisión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416" name="Google Shape;416;p1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3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!!rueda-cuna-5" descr="cuna-datos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!!rueda-icono-5" descr="icono-datos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11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DATOS</a:t>
            </a:r>
            <a:endParaRPr/>
          </a:p>
        </p:txBody>
      </p:sp>
      <p:sp>
        <p:nvSpPr>
          <p:cNvPr id="437" name="Google Shape;437;p11"/>
          <p:cNvSpPr txBox="1"/>
          <p:nvPr/>
        </p:nvSpPr>
        <p:spPr>
          <a:xfrm>
            <a:off x="3960000" y="778559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dirty="0"/>
          </a:p>
        </p:txBody>
      </p:sp>
      <p:sp>
        <p:nvSpPr>
          <p:cNvPr id="438" name="Google Shape;438;p11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Toda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tabla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lleva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tenant_id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: es lo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que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impide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que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una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empresa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vea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los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datos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otra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pic>
        <p:nvPicPr>
          <p:cNvPr id="439" name="Google Shape;439;p11" descr="ingesta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072000" y="3960000"/>
            <a:ext cx="2932363" cy="23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11"/>
          <p:cNvSpPr/>
          <p:nvPr/>
        </p:nvSpPr>
        <p:spPr>
          <a:xfrm>
            <a:off x="3960000" y="31140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1"/>
          <p:cNvSpPr/>
          <p:nvPr/>
        </p:nvSpPr>
        <p:spPr>
          <a:xfrm>
            <a:off x="3960000" y="31356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4248000" y="31860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EMPRESAS Y ACCESO</a:t>
            </a:r>
            <a:endParaRPr/>
          </a:p>
        </p:txBody>
      </p:sp>
      <p:sp>
        <p:nvSpPr>
          <p:cNvPr id="443" name="Google Shape;443;p11"/>
          <p:cNvSpPr/>
          <p:nvPr/>
        </p:nvSpPr>
        <p:spPr>
          <a:xfrm>
            <a:off x="4248000" y="34452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tenants · users · refresh_tokens</a:t>
            </a:r>
            <a:endParaRPr/>
          </a:p>
        </p:txBody>
      </p:sp>
      <p:sp>
        <p:nvSpPr>
          <p:cNvPr id="444" name="Google Shape;444;p11"/>
          <p:cNvSpPr/>
          <p:nvPr/>
        </p:nvSpPr>
        <p:spPr>
          <a:xfrm>
            <a:off x="3960000" y="38268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3960000" y="3848400"/>
            <a:ext cx="64800" cy="5868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4248000" y="38988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CONOCIMIENTO</a:t>
            </a:r>
            <a:endParaRPr/>
          </a:p>
        </p:txBody>
      </p:sp>
      <p:sp>
        <p:nvSpPr>
          <p:cNvPr id="447" name="Google Shape;447;p11"/>
          <p:cNvSpPr/>
          <p:nvPr/>
        </p:nvSpPr>
        <p:spPr>
          <a:xfrm>
            <a:off x="4248000" y="41580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documents · chunks · faqs · website_scans</a:t>
            </a:r>
            <a:endParaRPr/>
          </a:p>
        </p:txBody>
      </p:sp>
      <p:sp>
        <p:nvSpPr>
          <p:cNvPr id="448" name="Google Shape;448;p11"/>
          <p:cNvSpPr/>
          <p:nvPr/>
        </p:nvSpPr>
        <p:spPr>
          <a:xfrm>
            <a:off x="3960000" y="45396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960000" y="45612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4248000" y="46116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CONVERSACIÓN</a:t>
            </a:r>
            <a:endParaRPr/>
          </a:p>
        </p:txBody>
      </p:sp>
      <p:sp>
        <p:nvSpPr>
          <p:cNvPr id="451" name="Google Shape;451;p11"/>
          <p:cNvSpPr/>
          <p:nvPr/>
        </p:nvSpPr>
        <p:spPr>
          <a:xfrm>
            <a:off x="4248000" y="48708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bot_agents · conversations · messages</a:t>
            </a:r>
            <a:endParaRPr/>
          </a:p>
        </p:txBody>
      </p:sp>
      <p:sp>
        <p:nvSpPr>
          <p:cNvPr id="452" name="Google Shape;452;p11"/>
          <p:cNvSpPr/>
          <p:nvPr/>
        </p:nvSpPr>
        <p:spPr>
          <a:xfrm>
            <a:off x="3960000" y="52524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960000" y="52740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1"/>
          <p:cNvSpPr/>
          <p:nvPr/>
        </p:nvSpPr>
        <p:spPr>
          <a:xfrm>
            <a:off x="4248000" y="53244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ATENCIÓN</a:t>
            </a:r>
            <a:endParaRPr/>
          </a:p>
        </p:txBody>
      </p:sp>
      <p:sp>
        <p:nvSpPr>
          <p:cNvPr id="455" name="Google Shape;455;p11"/>
          <p:cNvSpPr/>
          <p:nvPr/>
        </p:nvSpPr>
        <p:spPr>
          <a:xfrm>
            <a:off x="4248000" y="55836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tickets · usage_events</a:t>
            </a:r>
            <a:endParaRPr/>
          </a:p>
        </p:txBody>
      </p:sp>
      <p:sp>
        <p:nvSpPr>
          <p:cNvPr id="456" name="Google Shape;456;p11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2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3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12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STACK</a:t>
            </a:r>
            <a:endParaRPr/>
          </a:p>
        </p:txBody>
      </p:sp>
      <p:sp>
        <p:nvSpPr>
          <p:cNvPr id="476" name="Google Shape;476;p12"/>
          <p:cNvSpPr txBox="1"/>
          <p:nvPr/>
        </p:nvSpPr>
        <p:spPr>
          <a:xfrm>
            <a:off x="3959999" y="1789514"/>
            <a:ext cx="75492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dirty="0"/>
          </a:p>
        </p:txBody>
      </p:sp>
      <p:sp>
        <p:nvSpPr>
          <p:cNvPr id="477" name="Google Shape;477;p12"/>
          <p:cNvSpPr txBox="1"/>
          <p:nvPr/>
        </p:nvSpPr>
        <p:spPr>
          <a:xfrm>
            <a:off x="3959999" y="902280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Tecnologías</a:t>
            </a:r>
            <a:r>
              <a:rPr lang="en-US" sz="50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50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Utilizadas</a:t>
            </a:r>
            <a:endParaRPr dirty="0"/>
          </a:p>
        </p:txBody>
      </p:sp>
      <p:pic>
        <p:nvPicPr>
          <p:cNvPr id="478" name="Google Shape;478;p12" descr="metricas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000000" y="3888000"/>
            <a:ext cx="2932363" cy="23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9" name="Google Shape;479;p12"/>
          <p:cNvSpPr/>
          <p:nvPr/>
        </p:nvSpPr>
        <p:spPr>
          <a:xfrm>
            <a:off x="3960000" y="2592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2"/>
          <p:cNvSpPr/>
          <p:nvPr/>
        </p:nvSpPr>
        <p:spPr>
          <a:xfrm>
            <a:off x="3960000" y="2613600"/>
            <a:ext cx="64800" cy="496799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2"/>
          <p:cNvSpPr/>
          <p:nvPr/>
        </p:nvSpPr>
        <p:spPr>
          <a:xfrm>
            <a:off x="4266000" y="2736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482" name="Google Shape;482;p12"/>
          <p:cNvSpPr/>
          <p:nvPr/>
        </p:nvSpPr>
        <p:spPr>
          <a:xfrm>
            <a:off x="6480000" y="2721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React 18 + Vite</a:t>
            </a:r>
            <a:endParaRPr/>
          </a:p>
        </p:txBody>
      </p:sp>
      <p:sp>
        <p:nvSpPr>
          <p:cNvPr id="483" name="Google Shape;483;p12"/>
          <p:cNvSpPr/>
          <p:nvPr/>
        </p:nvSpPr>
        <p:spPr>
          <a:xfrm>
            <a:off x="3960000" y="32112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2"/>
          <p:cNvSpPr/>
          <p:nvPr/>
        </p:nvSpPr>
        <p:spPr>
          <a:xfrm>
            <a:off x="3960000" y="32328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2"/>
          <p:cNvSpPr/>
          <p:nvPr/>
        </p:nvSpPr>
        <p:spPr>
          <a:xfrm>
            <a:off x="4266000" y="33552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486" name="Google Shape;486;p12"/>
          <p:cNvSpPr/>
          <p:nvPr/>
        </p:nvSpPr>
        <p:spPr>
          <a:xfrm>
            <a:off x="6480000" y="33408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Python + FastAPI</a:t>
            </a:r>
            <a:endParaRPr/>
          </a:p>
        </p:txBody>
      </p:sp>
      <p:sp>
        <p:nvSpPr>
          <p:cNvPr id="487" name="Google Shape;487;p12"/>
          <p:cNvSpPr/>
          <p:nvPr/>
        </p:nvSpPr>
        <p:spPr>
          <a:xfrm>
            <a:off x="3960000" y="38304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3960000" y="38520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4266000" y="39744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Base de datos</a:t>
            </a:r>
            <a:endParaRPr/>
          </a:p>
        </p:txBody>
      </p:sp>
      <p:sp>
        <p:nvSpPr>
          <p:cNvPr id="490" name="Google Shape;490;p12"/>
          <p:cNvSpPr/>
          <p:nvPr/>
        </p:nvSpPr>
        <p:spPr>
          <a:xfrm>
            <a:off x="6480000" y="39600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8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PostgreSQL + pgvector</a:t>
            </a:r>
            <a:endParaRPr/>
          </a:p>
        </p:txBody>
      </p:sp>
      <p:sp>
        <p:nvSpPr>
          <p:cNvPr id="491" name="Google Shape;491;p12"/>
          <p:cNvSpPr/>
          <p:nvPr/>
        </p:nvSpPr>
        <p:spPr>
          <a:xfrm>
            <a:off x="3960000" y="44496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960000" y="44712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4266000" y="45936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Modelo</a:t>
            </a:r>
            <a:endParaRPr/>
          </a:p>
        </p:txBody>
      </p:sp>
      <p:sp>
        <p:nvSpPr>
          <p:cNvPr id="494" name="Google Shape;494;p12"/>
          <p:cNvSpPr/>
          <p:nvPr/>
        </p:nvSpPr>
        <p:spPr>
          <a:xfrm>
            <a:off x="6480000" y="45792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Groq (gpt-oss-120b)</a:t>
            </a:r>
            <a:endParaRPr/>
          </a:p>
        </p:txBody>
      </p:sp>
      <p:sp>
        <p:nvSpPr>
          <p:cNvPr id="495" name="Google Shape;495;p12"/>
          <p:cNvSpPr/>
          <p:nvPr/>
        </p:nvSpPr>
        <p:spPr>
          <a:xfrm>
            <a:off x="3960000" y="50688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960000" y="50904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4266000" y="52128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Colas y tiempo real</a:t>
            </a:r>
            <a:endParaRPr/>
          </a:p>
        </p:txBody>
      </p:sp>
      <p:sp>
        <p:nvSpPr>
          <p:cNvPr id="498" name="Google Shape;498;p12"/>
          <p:cNvSpPr/>
          <p:nvPr/>
        </p:nvSpPr>
        <p:spPr>
          <a:xfrm>
            <a:off x="6480000" y="51984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arq sobre Redis</a:t>
            </a:r>
            <a:endParaRPr/>
          </a:p>
        </p:txBody>
      </p:sp>
      <p:sp>
        <p:nvSpPr>
          <p:cNvPr id="499" name="Google Shape;499;p12"/>
          <p:cNvSpPr/>
          <p:nvPr/>
        </p:nvSpPr>
        <p:spPr>
          <a:xfrm>
            <a:off x="3960000" y="5688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3960000" y="57096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4266000" y="5832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Despliegue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6480000" y="5817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Vercel + Supabase</a:t>
            </a:r>
            <a:endParaRPr/>
          </a:p>
        </p:txBody>
      </p:sp>
      <p:sp>
        <p:nvSpPr>
          <p:cNvPr id="503" name="Google Shape;503;p12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4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4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!!rueda-cuna-2" descr="cuna-chat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8" name="!!rueda-icono-2" descr="icono-chat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14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GRACIAS</a:t>
            </a:r>
            <a:endParaRPr/>
          </a:p>
        </p:txBody>
      </p:sp>
      <p:pic>
        <p:nvPicPr>
          <p:cNvPr id="548" name="Google Shape;548;p14" descr="agent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280000" y="3311999"/>
            <a:ext cx="3665454" cy="28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4"/>
          <p:cNvSpPr/>
          <p:nvPr/>
        </p:nvSpPr>
        <p:spPr>
          <a:xfrm>
            <a:off x="3960000" y="1584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4"/>
          <p:cNvSpPr txBox="1"/>
          <p:nvPr/>
        </p:nvSpPr>
        <p:spPr>
          <a:xfrm>
            <a:off x="3960000" y="1728000"/>
            <a:ext cx="4752000" cy="27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Una primera línea</a:t>
            </a:r>
            <a:endParaRPr/>
          </a:p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 atención que</a:t>
            </a:r>
            <a:endParaRPr/>
          </a:p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no se construye</a:t>
            </a:r>
            <a:endParaRPr/>
          </a:p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dos veces.</a:t>
            </a:r>
            <a:endParaRPr/>
          </a:p>
        </p:txBody>
      </p:sp>
      <p:sp>
        <p:nvSpPr>
          <p:cNvPr id="551" name="Google Shape;551;p14"/>
          <p:cNvSpPr txBox="1"/>
          <p:nvPr/>
        </p:nvSpPr>
        <p:spPr>
          <a:xfrm>
            <a:off x="3960000" y="4526280"/>
            <a:ext cx="5120640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Clientes iniciales: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WellQ, Alloxentric, Directa y Dani27001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Caso de prueba: </a:t>
            </a:r>
            <a:r>
              <a:rPr lang="en-US" sz="20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Duoc UC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duoc.cl en 3 min: 172 páginas · 987 documentos de mallas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Informe de avance: 16 de octubre de 2026</a:t>
            </a:r>
            <a:endParaRPr/>
          </a:p>
        </p:txBody>
      </p:sp>
      <p:sp>
        <p:nvSpPr>
          <p:cNvPr id="552" name="Google Shape;552;p14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Carga de Duoc UC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10896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se cargó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Escaneo de duoc.cl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carreras, oferta académica, admisión y preguntas frecuentes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páginas indexadas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12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s, en tandas de ~20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Primera carga 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escaneo + 95 mallas + configuración del bot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páginas y 95 documentos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unos 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179416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Mallas por semestre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carga definitiva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 documentos nuevos, sin fallas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omitidos por repetidos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unos 20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 s por documento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249836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 páginas · 987 documentos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 fragmentos, todos indexados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unos 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3" name="TextBox 252"/>
          <p:cNvSpPr txBox="1"/>
          <p:nvPr/>
        </p:nvSpPr>
        <p:spPr>
          <a:xfrm>
            <a:off x="3960000" y="506532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B5B63"/>
                </a:solidFill>
                <a:latin typeface="Calibri"/>
              </a:rPr>
              <a:t>Medido por los scripts de carga contra producción (Vercel + Supabase), 16-10-2026. Los 6 min son aproximados; lo demás, medición directa.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Cómo responde el bot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80390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¿Usa IA?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Reformular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Convierte el mensaje en una pregunta completa con lo ya conversado y suma sinónimos para buscar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Clasificar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Elige el agente técnico o el comercial: reglas, temas de la empresa y, si no basta, la 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459839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Recuperar (RAG)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los 5 pasajes más parecidos, solo en la base de conocimiento de esa empresa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8052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Generar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IA responde solo con esos pasajes, en el idioma del 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511644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 consulta revisa que la respuesta se apoye en los pasajes; si inventa, dice que no tiene la información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349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Reglas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 la respuesta a las reglas del negocio que escribió la empresa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si hay reglas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61521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Comprobar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Borra las líneas con enlaces, correos, teléfonos o montos que no estén en la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8059963"/>
                  </a:ext>
                </a:extLst>
              </a:tr>
            </a:tbl>
          </a:graphicData>
        </a:graphic>
      </p:graphicFrame>
      <p:sp>
        <p:nvSpPr>
          <p:cNvPr id="253" name="TextBox 252"/>
          <p:cNvSpPr txBox="1"/>
          <p:nvPr/>
        </p:nvSpPr>
        <p:spPr>
          <a:xfrm>
            <a:off x="3960000" y="5760273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B5B63"/>
                </a:solidFill>
                <a:latin typeface="Calibri"/>
              </a:rPr>
              <a:t>Si no encuentra la respuesta dos veces, ofrece una persona: un ejecutivo en vivo o un ticket.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Pruébalo en vivo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5943600" cy="313639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Pregunta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muestra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«¿Qué ramos tiene el tercer semestre de Ingeniería en Informática?»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4 ramos con su código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con las mallas · 7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«¿Qué certificaciones obtengo en Ingeniería en Desarrollo de Software?»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3 certificaciones y sus ramos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092516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«¿Puedo matricularme si estoy en Dicom?»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«Sí», con el enlace a la pregunta frecuente de duoc.cl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86696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Botón «Hablar con una persona»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Derivación en vivo, o ticket si no hay nadie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67153"/>
                  </a:ext>
                </a:extLst>
              </a:tr>
            </a:tbl>
          </a:graphicData>
        </a:graphic>
      </p:graphicFrame>
      <p:sp>
        <p:nvSpPr>
          <p:cNvPr id="253" name="TextBox 252"/>
          <p:cNvSpPr txBox="1"/>
          <p:nvPr/>
        </p:nvSpPr>
        <p:spPr>
          <a:xfrm>
            <a:off x="3960000" y="5092761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B5B63"/>
                </a:solidFill>
                <a:latin typeface="Calibri"/>
              </a:rPr>
              <a:t>Probadas en producción el 16-10-2026. Para pedir una persona, usar el botón: escribirlo no deriva.</a:t>
            </a:r>
          </a:p>
        </p:txBody>
      </p:sp>
      <p:pic>
        <p:nvPicPr>
          <p:cNvPr id="254" name="Picture 253" descr="qr-chat-duo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95560" y="1920240"/>
            <a:ext cx="1600200" cy="1600200"/>
          </a:xfrm>
          <a:prstGeom prst="rect">
            <a:avLst/>
          </a:prstGeom>
        </p:spPr>
      </p:pic>
      <p:sp>
        <p:nvSpPr>
          <p:cNvPr id="255" name="TextBox 254"/>
          <p:cNvSpPr txBox="1"/>
          <p:nvPr/>
        </p:nvSpPr>
        <p:spPr>
          <a:xfrm>
            <a:off x="10104120" y="3566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Chat de Duoc UC</a:t>
            </a:r>
          </a:p>
          <a:p>
            <a:r>
              <a:rPr sz="1000">
                <a:solidFill>
                  <a:srgbClr val="3B5B63"/>
                </a:solidFill>
                <a:latin typeface="Calibri"/>
              </a:rPr>
              <a:t>frontend-one-liart-11</a:t>
            </a:r>
          </a:p>
          <a:p>
            <a:r>
              <a:rPr sz="1000">
                <a:solidFill>
                  <a:srgbClr val="3B5B63"/>
                </a:solidFill>
                <a:latin typeface="Calibri"/>
              </a:rPr>
              <a:t>.vercel.app/c/duoc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Si falla la conexión</a:t>
            </a:r>
            <a:endParaRPr dirty="0"/>
          </a:p>
        </p:txBody>
      </p:sp>
      <p:pic>
        <p:nvPicPr>
          <p:cNvPr id="253" name="Picture 252" descr="14-chat-duoc-ramos-tercer-semestr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77639" y="1783080"/>
            <a:ext cx="3291840" cy="2057400"/>
          </a:xfrm>
          <a:prstGeom prst="rect">
            <a:avLst/>
          </a:prstGeom>
        </p:spPr>
      </p:pic>
      <p:sp>
        <p:nvSpPr>
          <p:cNvPr id="254" name="TextBox 253"/>
          <p:cNvSpPr txBox="1"/>
          <p:nvPr/>
        </p:nvSpPr>
        <p:spPr>
          <a:xfrm>
            <a:off x="3977639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Duoc UC: ramos del tercer semestre</a:t>
            </a:r>
          </a:p>
        </p:txBody>
      </p:sp>
      <p:pic>
        <p:nvPicPr>
          <p:cNvPr id="255" name="Picture 254" descr="15-chat-duoc-certificacione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9559" y="1783080"/>
            <a:ext cx="3291840" cy="2057400"/>
          </a:xfrm>
          <a:prstGeom prst="rect">
            <a:avLst/>
          </a:prstGeom>
        </p:spPr>
      </p:pic>
      <p:sp>
        <p:nvSpPr>
          <p:cNvPr id="256" name="TextBox 255"/>
          <p:cNvSpPr txBox="1"/>
          <p:nvPr/>
        </p:nvSpPr>
        <p:spPr>
          <a:xfrm>
            <a:off x="7909559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Duoc UC: certificaciones de la carrera</a:t>
            </a:r>
          </a:p>
        </p:txBody>
      </p:sp>
      <p:pic>
        <p:nvPicPr>
          <p:cNvPr id="257" name="Picture 256" descr="16-chat-directa-plan-fibr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77639" y="4114800"/>
            <a:ext cx="3291840" cy="2057400"/>
          </a:xfrm>
          <a:prstGeom prst="rect">
            <a:avLst/>
          </a:prstGeom>
        </p:spPr>
      </p:pic>
      <p:sp>
        <p:nvSpPr>
          <p:cNvPr id="258" name="TextBox 257"/>
          <p:cNvSpPr txBox="1"/>
          <p:nvPr/>
        </p:nvSpPr>
        <p:spPr>
          <a:xfrm>
            <a:off x="3977639" y="61904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Directa: otra empresa, otra base de conocimiento</a:t>
            </a:r>
          </a:p>
        </p:txBody>
      </p:sp>
      <p:pic>
        <p:nvPicPr>
          <p:cNvPr id="259" name="Picture 258" descr="17-consola-ejecutivo-en-vivo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09559" y="4114800"/>
            <a:ext cx="3291840" cy="2057400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7909559" y="61904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Consola del ejecutivo: derivación en vivo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Cómo lo medimos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18211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se mide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 automáticas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 en cada cambio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Actions, sobre SQLite y PostgreSQL con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Clasificador técnico / comercial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meta: 90 %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de 120 preguntas en 3 idiomas; mitad reservada para validar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4806678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Ramos por semestre (Duoc UC)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de 60 · 4 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Simulación de la búsqueda · preguntas en producción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53274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inventados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 «comprobar»: el teléfono y el correo inventados del 15-10 ya no llegan (12 pruebas)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2201478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Aislamiento entre empresas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una ve solo lo suyo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con dos empresas preguntando a la vez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27719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Límites conocidos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63931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pasa hoy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se hace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en vivo en Vercel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WebSocket: el chat consulta cada pocos segundos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Funciona; WebSocket en local o con un host de procesos largos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 archivos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disco de Vercel es de solo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Texto, preguntas frecuentes y escaneo sí funcionan; Azure Blob programado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96081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por palabras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pregunta general a veces no encuentra el resumen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«Reformular» suma sinónimos; embeddings de Azure programados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54492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Siglas y nombres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«Comprobar» no los revisa: expandió mal FUAS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Sumar nombres propios a la comprobación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30629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Pedir una persona escribiendo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deriva el botón o dos fallos seguidos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Nodo «derivar» evaluado para la siguiente etapa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8949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78,3 %, bajo la meta de 90 %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anotado y matriz de confusión para el informe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03961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2053</Words>
  <Application>Microsoft Office PowerPoint</Application>
  <PresentationFormat>Personalizado</PresentationFormat>
  <Paragraphs>300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MANUEL . JANSEN ARAVENA</cp:lastModifiedBy>
  <cp:revision>2</cp:revision>
  <dcterms:created xsi:type="dcterms:W3CDTF">2013-01-27T09:14:16Z</dcterms:created>
  <dcterms:modified xsi:type="dcterms:W3CDTF">2026-10-16T22:40:55Z</dcterms:modified>
</cp:coreProperties>
</file>