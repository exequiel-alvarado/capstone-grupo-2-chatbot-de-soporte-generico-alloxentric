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9"/>
    <p:sldId id="265" r:id="rId10"/>
    <p:sldId id="266" r:id="rId11"/>
    <p:sldId id="267" r:id="rId12"/>
    <p:sldId id="269" r:id="rId13"/>
    <p:sldId id="270" r:id="rId20"/>
    <p:sldId id="271" r:id="rId19"/>
    <p:sldId id="272" r:id="rId18"/>
    <p:sldId id="273" r:id="rId17"/>
    <p:sldId id="274" r:id="rId16"/>
    <p:sldId id="275" r:id="rId15"/>
  </p:sldIdLst>
  <p:sldSz cx="1219358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Ll6JfAoimCsWEm9GX5yCz9dp2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2DA1EE-E1A7-4EED-A6F2-DAB20566E365}">
  <a:tblStyle styleId="{9F2DA1EE-E1A7-4EED-A6F2-DAB20566E36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8.xml"/><Relationship Id="rId16" Type="http://schemas.openxmlformats.org/officeDocument/2006/relationships/slide" Target="slides/slide17.xml"/><Relationship Id="rId17" Type="http://schemas.openxmlformats.org/officeDocument/2006/relationships/slide" Target="slides/slide16.xml"/><Relationship Id="rId18" Type="http://schemas.openxmlformats.org/officeDocument/2006/relationships/slide" Target="slides/slide15.xml"/><Relationship Id="rId19" Type="http://schemas.openxmlformats.org/officeDocument/2006/relationships/slide" Target="slides/slide14.xml"/><Relationship Id="rId20" Type="http://schemas.openxmlformats.org/officeDocument/2006/relationships/slide" Target="slides/slide13.xml"/><Relationship Id="rId21" Type="http://customschemas.google.com/relationships/presentationmetadata" Target="meta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6 minutos son aproximados: salen de la hora en que partió la carga y la hora del archivo de registro. El resto son mediciones directas de los scripts. El escaneo va a ~1 página por segundo.</a:t>
            </a:r>
          </a:p>
          <a:p>
            <a:r>
              <a:t>Las mallas fueron lo más lento porque cada documento se subió por la API con su propia petición: Vercel lo trocea, calcula el vector y lo guarda en Supabase. Una carga en bloque sería bastante más rápida, pero así se probó el mismo camino que usa una empresa real.</a:t>
            </a:r>
          </a:p>
          <a:p>
            <a:r>
              <a:t>No cuenta en los 26 minutos: bajar las mallas desde malla.duoc.cl y armar los resúmenes por escuela, que se hizo antes, en local.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 un grafo de LangGraph (proyecto/docs/motor-langgraph.md). El RAG es el paso 3: la búsqueda filtra por empresa y por tipo de agente, así que una empresa nunca ve los documentos de otra.</a:t>
            </a:r>
          </a:p>
          <a:p>
            <a:r>
              <a:t>Los pasos 1, 5 y 6 nunca dejan al cliente sin respuesta: si la IA falla o tarda más de 8 s, sigue con lo que había. Por eso existe el paso 7, que no usa IA.</a:t>
            </a:r>
          </a:p>
          <a:p>
            <a:r>
              <a:t>Si el bot no encuentra nada dos veces, ofrece hablar con una persona: un ejecutivo en vivo, o un ticket si no hay nadie.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tres preguntas se probaron en el chat de producción el 16-10-2026 y respondieron bien (tiempos de la tabla). Usar el botón para pedir una persona: escribir «quiero hablar con una persona» no deriva.</a:t>
            </a:r>
          </a:p>
          <a:p>
            <a:r>
              <a:t>Evitar en vivo: «¿qué becas hay?» (expande mal la sigla FUAS), «¿qué carreras de informática hay?» (a veces no encuentra el resumen) y preguntas ajenas como «¿cuánto es 4+4?» (si la IA está saturada, la verificación se salta).</a:t>
            </a:r>
          </a:p>
          <a:p>
            <a:r>
              <a:t>Si falla la conexión, la diapositiva siguiente tiene las capturas.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Capturas de producción del 16-10-2026 (Evidencias de sistema Aplicación Base de datos/Aplicación). Arriba, el chat de Duoc UC. Abajo, el chat de Directa, que responde con su propia base, y la consola de su ejecutiva con una derivación en vivo. Esa conversación viene de los datos de demostración: en el chat real se deriva con el botón, no escribiéndolo.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402 pruebas: pytest --collect-only al 16-10-2026. El CI corre la suite en SQLite y en PostgreSQL 16 con pgvector, más el build del frontend (Evidencias de documentación).</a:t>
            </a:r>
          </a:p>
          <a:p>
            <a:r>
              <a:t>78,3 %: última medición sin la IA (proyecto/docs/evaluacion-motor.md). Con la IA como respaldo debería subir; falta medirlo con el banco anotado y la matriz de confusión para el informe final.</a:t>
            </a:r>
          </a:p>
          <a:p>
            <a:r>
              <a:t>59 de 60: el semestre pedido llega a los 5 pasajes que recibe el bot. 4 de 4: preguntas de semestre y certificaciones hechas en producción.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Detalle en proyecto/docs/adr/0001-despliegue.md (Vercel) y proyecto/docs/busqueda.md (búsqueda).</a:t>
            </a:r>
          </a:p>
          <a:p>
            <a:r>
              <a:t>La búsqueda usa embeddings «hash», por palabras: no hay proveedor de embeddings contratado. Azure OpenAI está programado y se activa con una variable de entorno.</a:t>
            </a:r>
          </a:p>
          <a:p>
            <a:r>
              <a:t>FUAS es el Formulario Único de Acreditación Socioeconómica; el bot lo llamó «Fondo Único de Asignación de Subsidios» (16-10-2026).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8.png"/><Relationship Id="rId16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9.png"/><Relationship Id="rId9" Type="http://schemas.openxmlformats.org/officeDocument/2006/relationships/image" Target="../media/image3.png"/><Relationship Id="rId10" Type="http://schemas.openxmlformats.org/officeDocument/2006/relationships/image" Target="../media/image8.png"/><Relationship Id="rId11" Type="http://schemas.openxmlformats.org/officeDocument/2006/relationships/image" Target="../media/image2.png"/><Relationship Id="rId12" Type="http://schemas.openxmlformats.org/officeDocument/2006/relationships/image" Target="../media/image7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9.png"/><Relationship Id="rId9" Type="http://schemas.openxmlformats.org/officeDocument/2006/relationships/image" Target="../media/image3.png"/><Relationship Id="rId10" Type="http://schemas.openxmlformats.org/officeDocument/2006/relationships/image" Target="../media/image8.png"/><Relationship Id="rId11" Type="http://schemas.openxmlformats.org/officeDocument/2006/relationships/image" Target="../media/image2.png"/><Relationship Id="rId12" Type="http://schemas.openxmlformats.org/officeDocument/2006/relationships/image" Target="../media/image7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9.png"/><Relationship Id="rId9" Type="http://schemas.openxmlformats.org/officeDocument/2006/relationships/image" Target="../media/image3.png"/><Relationship Id="rId10" Type="http://schemas.openxmlformats.org/officeDocument/2006/relationships/image" Target="../media/image8.png"/><Relationship Id="rId11" Type="http://schemas.openxmlformats.org/officeDocument/2006/relationships/image" Target="../media/image2.png"/><Relationship Id="rId12" Type="http://schemas.openxmlformats.org/officeDocument/2006/relationships/image" Target="../media/image7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5.xml"/><Relationship Id="rId15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9.png"/><Relationship Id="rId9" Type="http://schemas.openxmlformats.org/officeDocument/2006/relationships/image" Target="../media/image3.png"/><Relationship Id="rId10" Type="http://schemas.openxmlformats.org/officeDocument/2006/relationships/image" Target="../media/image8.png"/><Relationship Id="rId11" Type="http://schemas.openxmlformats.org/officeDocument/2006/relationships/image" Target="../media/image2.png"/><Relationship Id="rId12" Type="http://schemas.openxmlformats.org/officeDocument/2006/relationships/image" Target="../media/image7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6.xml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9.png"/><Relationship Id="rId9" Type="http://schemas.openxmlformats.org/officeDocument/2006/relationships/image" Target="../media/image3.png"/><Relationship Id="rId10" Type="http://schemas.openxmlformats.org/officeDocument/2006/relationships/image" Target="../media/image8.png"/><Relationship Id="rId11" Type="http://schemas.openxmlformats.org/officeDocument/2006/relationships/image" Target="../media/image2.png"/><Relationship Id="rId12" Type="http://schemas.openxmlformats.org/officeDocument/2006/relationships/image" Target="../media/image7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9.png"/><Relationship Id="rId9" Type="http://schemas.openxmlformats.org/officeDocument/2006/relationships/image" Target="../media/image3.png"/><Relationship Id="rId10" Type="http://schemas.openxmlformats.org/officeDocument/2006/relationships/image" Target="../media/image8.png"/><Relationship Id="rId11" Type="http://schemas.openxmlformats.org/officeDocument/2006/relationships/image" Target="../media/image2.png"/><Relationship Id="rId12" Type="http://schemas.openxmlformats.org/officeDocument/2006/relationships/image" Target="../media/image7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!!rueda-cuna-1" descr="cuna-documento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!!rueda-icono-1" descr="icono-documento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!!rueda-cuna-2" descr="cuna-chat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!!rueda-icono-2" descr="icono-chat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!!rueda-cuna-3" descr="cuna-agentes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!!rueda-icono-3" descr="icono-agente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!!rueda-cuna-4" descr="cuna-derivacion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!!rueda-cuna-5" descr="cuna-da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!!rueda-icono-5" descr="icono-datos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!!rueda-cuna-6" descr="cuna-metricas.png"/>
          <p:cNvPicPr preferRelativeResize="0"/>
          <p:nvPr/>
        </p:nvPicPr>
        <p:blipFill rotWithShape="1">
          <a:blip r:embed="rId13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!!rueda-icono-6" descr="icono-metricas.png"/>
          <p:cNvPicPr preferRelativeResize="0"/>
          <p:nvPr/>
        </p:nvPicPr>
        <p:blipFill rotWithShape="1">
          <a:blip r:embed="rId14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/>
          </a:p>
        </p:txBody>
      </p:sp>
      <p:pic>
        <p:nvPicPr>
          <p:cNvPr id="99" name="Google Shape;99;p1" descr="bot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632000" y="2808000"/>
            <a:ext cx="4398545" cy="34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3960000" y="1512000"/>
            <a:ext cx="1080000" cy="72000"/>
          </a:xfrm>
          <a:prstGeom prst="rect">
            <a:avLst/>
          </a:prstGeom>
          <a:solidFill>
            <a:srgbClr val="6EA5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3960000" y="1764000"/>
            <a:ext cx="7740000" cy="23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Chatbot de Soporte</a:t>
            </a:r>
            <a:endParaRPr/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1" i="0" u="none" strike="noStrike" cap="none">
                <a:solidFill>
                  <a:srgbClr val="046B74"/>
                </a:solidFill>
                <a:latin typeface="Calibri"/>
                <a:ea typeface="Calibri"/>
                <a:cs typeface="Calibri"/>
                <a:sym typeface="Calibri"/>
              </a:rPr>
              <a:t>Genérico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3960000" y="4031999"/>
            <a:ext cx="432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Una plataforma de soporte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para todas las empresas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cliente de Alloxentric.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3960000" y="5400000"/>
            <a:ext cx="52560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Grupo 2 · Duoc UC · Sede Antonio Varas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Exequiel · Diana · Manuel · Cristian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Profesor: Arturo Guerra Castro</a:t>
            </a:r>
            <a:endParaRPr/>
          </a:p>
        </p:txBody>
      </p:sp>
      <p:pic>
        <p:nvPicPr>
          <p:cNvPr id="104" name="Google Shape;104;p1" descr="Alloxentric-logo-full-color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144000" y="540000"/>
            <a:ext cx="23652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"/>
          <p:cNvSpPr/>
          <p:nvPr/>
        </p:nvSpPr>
        <p:spPr>
          <a:xfrm>
            <a:off x="8874000" y="486000"/>
            <a:ext cx="18000" cy="648000"/>
          </a:xfrm>
          <a:prstGeom prst="rect">
            <a:avLst/>
          </a:prstGeom>
          <a:solidFill>
            <a:srgbClr val="9EB5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" descr="duoc-uc-logo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406199" y="540000"/>
            <a:ext cx="2197800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E7E4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!!rueda-cuna-2" descr="cuna-cha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!!rueda-icono-2" descr="icono-cha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!!rueda-cuna-3" descr="cuna-agentes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!!rueda-icono-3" descr="icono-agente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!!rueda-cuna-4" descr="cuna-derivacion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!!rueda-cuna-5" descr="cuna-da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!!rueda-icono-5" descr="icono-datos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!!rueda-cuna-6" descr="cuna-metricas.png"/>
          <p:cNvPicPr preferRelativeResize="0"/>
          <p:nvPr/>
        </p:nvPicPr>
        <p:blipFill rotWithShape="1">
          <a:blip r:embed="rId13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!!rueda-icono-6" descr="icono-metricas.png"/>
          <p:cNvPicPr preferRelativeResize="0"/>
          <p:nvPr/>
        </p:nvPicPr>
        <p:blipFill rotWithShape="1">
          <a:blip r:embed="rId14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3959999" y="1166716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del Proyecto</a:t>
            </a:r>
            <a:endParaRPr dirty="0"/>
          </a:p>
        </p:txBody>
      </p:sp>
      <p:sp>
        <p:nvSpPr>
          <p:cNvPr id="128" name="Google Shape;128;p2"/>
          <p:cNvSpPr/>
          <p:nvPr/>
        </p:nvSpPr>
        <p:spPr>
          <a:xfrm>
            <a:off x="3960000" y="26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4121999" y="28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4824000" y="28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Exequiel Alvarado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4824000" y="31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9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Desarrollo (backend, frontend, infraestructura)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3960000" y="35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4121999" y="37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DG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4824000" y="37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Diana Guerrero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4824000" y="40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9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Coordinación</a:t>
            </a:r>
            <a:r>
              <a:rPr lang="en-US" sz="1689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/ Product Owner, </a:t>
            </a:r>
            <a:r>
              <a:rPr lang="en-US" sz="1689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r>
              <a:rPr lang="en-US" sz="1689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Jira</a:t>
            </a:r>
            <a:endParaRPr dirty="0"/>
          </a:p>
        </p:txBody>
      </p:sp>
      <p:sp>
        <p:nvSpPr>
          <p:cNvPr id="136" name="Google Shape;136;p2"/>
          <p:cNvSpPr/>
          <p:nvPr/>
        </p:nvSpPr>
        <p:spPr>
          <a:xfrm>
            <a:off x="3960000" y="44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4121999" y="46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MJ</a:t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4824000" y="46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Manuel Jansen</a:t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4824000" y="49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9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Diseño de interfaz y mockups</a:t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3960000" y="5364000"/>
            <a:ext cx="7549200" cy="7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4121999" y="5508000"/>
            <a:ext cx="503999" cy="503999"/>
          </a:xfrm>
          <a:prstGeom prst="ellipse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CJ</a:t>
            </a: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4824000" y="5515200"/>
            <a:ext cx="3096000" cy="324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Cristian Jorquera</a:t>
            </a:r>
            <a:endParaRPr/>
          </a:p>
        </p:txBody>
      </p:sp>
      <p:sp>
        <p:nvSpPr>
          <p:cNvPr id="143" name="Google Shape;143;p2"/>
          <p:cNvSpPr/>
          <p:nvPr/>
        </p:nvSpPr>
        <p:spPr>
          <a:xfrm>
            <a:off x="4824000" y="5839200"/>
            <a:ext cx="6397200" cy="270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9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Aseguramiento de calidad, historias de usuario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!!rueda-cuna-2" descr="cuna-chat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!!rueda-icono-2" descr="icono-chat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!!rueda-cuna-3" descr="cuna-agentes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!!rueda-icono-3" descr="icono-agente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!!rueda-cuna-4" descr="cuna-derivacion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!!rueda-cuna-5" descr="cuna-da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!!rueda-icono-5" descr="icono-datos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!!rueda-cuna-6" descr="cuna-metricas.png"/>
          <p:cNvPicPr preferRelativeResize="0"/>
          <p:nvPr/>
        </p:nvPicPr>
        <p:blipFill rotWithShape="1">
          <a:blip r:embed="rId13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!!rueda-icono-6" descr="icono-metricas.png"/>
          <p:cNvPicPr preferRelativeResize="0"/>
          <p:nvPr/>
        </p:nvPicPr>
        <p:blipFill rotWithShape="1">
          <a:blip r:embed="rId14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EL CASO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3959999" y="1111108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Descripci</a:t>
            </a:r>
            <a:r>
              <a:rPr lang="en-US" sz="5000" b="1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ón</a:t>
            </a:r>
            <a:r>
              <a:rPr lang="en-US" sz="50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del Proyecto</a:t>
            </a:r>
            <a:endParaRPr dirty="0"/>
          </a:p>
        </p:txBody>
      </p:sp>
      <p:pic>
        <p:nvPicPr>
          <p:cNvPr id="166" name="Google Shape;166;p3" descr="ventana-chat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856000" y="3816000"/>
            <a:ext cx="3024000" cy="23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 txBox="1"/>
          <p:nvPr/>
        </p:nvSpPr>
        <p:spPr>
          <a:xfrm>
            <a:off x="3959999" y="2445184"/>
            <a:ext cx="453600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 err="1">
                <a:solidFill>
                  <a:srgbClr val="D95433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r>
              <a:rPr lang="en-US" sz="1900" b="1" i="0" u="none" strike="noStrike" cap="none" dirty="0">
                <a:solidFill>
                  <a:srgbClr val="D95433"/>
                </a:solidFill>
                <a:latin typeface="Calibri"/>
                <a:ea typeface="Calibri"/>
                <a:cs typeface="Calibri"/>
                <a:sym typeface="Calibri"/>
              </a:rPr>
              <a:t> o dolor</a:t>
            </a:r>
            <a:endParaRPr dirty="0"/>
          </a:p>
        </p:txBody>
      </p:sp>
      <p:sp>
        <p:nvSpPr>
          <p:cNvPr id="168" name="Google Shape;168;p3"/>
          <p:cNvSpPr/>
          <p:nvPr/>
        </p:nvSpPr>
        <p:spPr>
          <a:xfrm>
            <a:off x="3959999" y="2828194"/>
            <a:ext cx="4536000" cy="1512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Atender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consultas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soporte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humano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es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caro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y no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Cada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tiene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su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: hoy es un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00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medida</a:t>
            </a:r>
            <a:r>
              <a:rPr lang="en-US" sz="200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169" name="Google Shape;169;p3"/>
          <p:cNvSpPr txBox="1"/>
          <p:nvPr/>
        </p:nvSpPr>
        <p:spPr>
          <a:xfrm>
            <a:off x="3959999" y="4624862"/>
            <a:ext cx="453600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 err="1">
                <a:solidFill>
                  <a:srgbClr val="046B74"/>
                </a:solidFill>
                <a:latin typeface="Calibri"/>
                <a:ea typeface="Calibri"/>
                <a:cs typeface="Calibri"/>
                <a:sym typeface="Calibri"/>
              </a:rPr>
              <a:t>Propuesta</a:t>
            </a:r>
            <a:r>
              <a:rPr lang="en-US" sz="1900" b="1" i="0" u="none" strike="noStrike" cap="none" dirty="0">
                <a:solidFill>
                  <a:srgbClr val="046B7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900" b="1" i="0" u="none" strike="noStrike" cap="none" dirty="0" err="1">
                <a:solidFill>
                  <a:srgbClr val="046B74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dirty="0"/>
          </a:p>
        </p:txBody>
      </p:sp>
      <p:sp>
        <p:nvSpPr>
          <p:cNvPr id="170" name="Google Shape;170;p3"/>
          <p:cNvSpPr/>
          <p:nvPr/>
        </p:nvSpPr>
        <p:spPr>
          <a:xfrm>
            <a:off x="3959999" y="5013804"/>
            <a:ext cx="4536000" cy="1152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Una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plataforma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multiempresa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carga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su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conocimiento.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Dos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agentes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derivación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humano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cuando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hace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falta</a:t>
            </a:r>
            <a:r>
              <a:rPr lang="en-US" sz="16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171" name="Google Shape;171;p3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!!rueda-cuna-2" descr="cuna-chat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!!rueda-icono-2" descr="icono-chat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!!rueda-cuna-3" descr="cuna-agentes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!!rueda-icono-3" descr="icono-agente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!!rueda-cuna-4" descr="cuna-derivacion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!!rueda-icono-4" descr="icono-derivacion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!!rueda-cuna-5" descr="cuna-da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!!rueda-icono-5" descr="icono-datos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!!rueda-cuna-6" descr="cuna-metricas.png"/>
          <p:cNvPicPr preferRelativeResize="0"/>
          <p:nvPr/>
        </p:nvPicPr>
        <p:blipFill rotWithShape="1">
          <a:blip r:embed="rId13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!!rueda-icono-6" descr="icono-metricas.png"/>
          <p:cNvPicPr preferRelativeResize="0"/>
          <p:nvPr/>
        </p:nvPicPr>
        <p:blipFill rotWithShape="1">
          <a:blip r:embed="rId14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"/>
          <p:cNvSpPr txBox="1"/>
          <p:nvPr/>
        </p:nvSpPr>
        <p:spPr>
          <a:xfrm>
            <a:off x="-685276" y="2736000"/>
            <a:ext cx="30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3995999" y="3565236"/>
            <a:ext cx="7549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6EA52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r>
              <a:rPr lang="en-US" sz="1800" b="1" i="0" u="none" strike="noStrike" cap="none" dirty="0">
                <a:solidFill>
                  <a:srgbClr val="6EA5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6EA52C"/>
                </a:solidFill>
                <a:latin typeface="Calibri"/>
                <a:ea typeface="Calibri"/>
                <a:cs typeface="Calibri"/>
                <a:sym typeface="Calibri"/>
              </a:rPr>
              <a:t>Específicos</a:t>
            </a:r>
            <a:endParaRPr dirty="0"/>
          </a:p>
        </p:txBody>
      </p:sp>
      <p:sp>
        <p:nvSpPr>
          <p:cNvPr id="192" name="Google Shape;192;p4"/>
          <p:cNvSpPr txBox="1"/>
          <p:nvPr/>
        </p:nvSpPr>
        <p:spPr>
          <a:xfrm>
            <a:off x="3959999" y="1130230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General</a:t>
            </a:r>
            <a:endParaRPr dirty="0"/>
          </a:p>
        </p:txBody>
      </p:sp>
      <p:pic>
        <p:nvPicPr>
          <p:cNvPr id="193" name="Google Shape;193;p4" descr="empresas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784000" y="3816000"/>
            <a:ext cx="3024000" cy="23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"/>
          <p:cNvSpPr/>
          <p:nvPr/>
        </p:nvSpPr>
        <p:spPr>
          <a:xfrm>
            <a:off x="3959999" y="2016000"/>
            <a:ext cx="7549200" cy="12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3959999" y="2037600"/>
            <a:ext cx="64800" cy="1252800"/>
          </a:xfrm>
          <a:prstGeom prst="rect">
            <a:avLst/>
          </a:prstGeom>
          <a:solidFill>
            <a:srgbClr val="6EA5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4265999" y="2232000"/>
            <a:ext cx="7009200" cy="900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Que cualquier empresa cliente de Alloxentric ofrezca a sus usuarios una primera línea de atención automatizada, con respaldo humano.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3959999" y="3914700"/>
            <a:ext cx="5256000" cy="2232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Administrar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documentos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, FAQ y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agentes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Ingerir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vectorizar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el conocimiento.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Responder con un motor RAG y dos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agentes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Derivar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a un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humano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dejar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ticket.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Medir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consumo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39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r>
              <a:rPr lang="en-US" sz="1939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198" name="Google Shape;198;p4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E7E4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!!rueda-cuna-2" descr="cuna-chat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!!rueda-icono-2" descr="icono-chat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!!rueda-cuna-3" descr="cuna-agentes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!!rueda-icono-3" descr="icono-agente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!!rueda-cuna-4" descr="cuna-derivacion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!!rueda-cuna-5" descr="cuna-datos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!!rueda-icono-5" descr="icono-datos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!!rueda-cuna-6" descr="cuna-metricas.png"/>
          <p:cNvPicPr preferRelativeResize="0"/>
          <p:nvPr/>
        </p:nvPicPr>
        <p:blipFill rotWithShape="1">
          <a:blip r:embed="rId13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!!rueda-icono-6" descr="icono-metricas.png"/>
          <p:cNvPicPr preferRelativeResize="0"/>
          <p:nvPr/>
        </p:nvPicPr>
        <p:blipFill rotWithShape="1">
          <a:blip r:embed="rId14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3959999" y="702788"/>
            <a:ext cx="75492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5000" b="1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del Proyecto</a:t>
            </a:r>
            <a:endParaRPr dirty="0"/>
          </a:p>
        </p:txBody>
      </p:sp>
      <p:sp>
        <p:nvSpPr>
          <p:cNvPr id="220" name="Google Shape;220;p5"/>
          <p:cNvSpPr/>
          <p:nvPr/>
        </p:nvSpPr>
        <p:spPr>
          <a:xfrm>
            <a:off x="3959998" y="2235437"/>
            <a:ext cx="7506349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3959998" y="2257037"/>
            <a:ext cx="134643" cy="3628800"/>
          </a:xfrm>
          <a:prstGeom prst="rect">
            <a:avLst/>
          </a:prstGeom>
          <a:solidFill>
            <a:srgbClr val="046B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265998" y="2433437"/>
            <a:ext cx="6459125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3" name="Google Shape;223;p5"/>
          <p:cNvSpPr/>
          <p:nvPr/>
        </p:nvSpPr>
        <p:spPr>
          <a:xfrm>
            <a:off x="4265998" y="2361438"/>
            <a:ext cx="6459125" cy="334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Módulo </a:t>
            </a:r>
            <a:r>
              <a:rPr lang="es-CL" sz="1500" b="1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multi-tenant</a:t>
            </a: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Una sola instalación sirve para todas las empresas.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Orquestación con </a:t>
            </a:r>
            <a:r>
              <a:rPr lang="es-CL" sz="1500" b="1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LangChain y LangGraph</a:t>
            </a: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para el motor conversacional: 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Un grafo de siete pasos que verifica cada respuesta</a:t>
            </a:r>
            <a:r>
              <a:rPr lang="es-CL" sz="1500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en vez de un motor artesanal.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Ingesta de documentos: 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Subida de PDF, Word, texto y </a:t>
            </a:r>
            <a:r>
              <a:rPr lang="es-CL" sz="1500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Markdown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Dos Agentes: 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Agente comercial y agente técnico, en caso de no resolver la duda del usuario se deriva a un agente humano.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Ticketera: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En caso de no disponibilidad de agentes humanos se derivan tickets.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Conexión a </a:t>
            </a:r>
            <a:r>
              <a:rPr lang="es-CL" sz="1500" b="1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Groq</a:t>
            </a: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por cliente: 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API Key independiente por cada empresa.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500" b="1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CL" sz="1500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general para administrador de plataforma además de </a:t>
            </a:r>
            <a:r>
              <a:rPr lang="es-CL" sz="1500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por empresa.</a:t>
            </a:r>
            <a:endParaRPr lang="es-CL" sz="1500" dirty="0"/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Limitaciones:</a:t>
            </a:r>
            <a:r>
              <a:rPr lang="es-CL" sz="1500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sin WhatsApp, telefonía, redes ni facturación por uso.</a:t>
            </a:r>
          </a:p>
        </p:txBody>
      </p:sp>
      <p:sp>
        <p:nvSpPr>
          <p:cNvPr id="228" name="Google Shape;228;p5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!!rueda-cuna-2" descr="cuna-chat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!!rueda-icono-2" descr="icono-chat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!!rueda-cuna-3" descr="cuna-agentes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!!rueda-icono-3" descr="icono-agente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!!rueda-cuna-4" descr="cuna-derivacion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!!rueda-cuna-5" descr="cuna-da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!!rueda-icono-5" descr="icono-datos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!!rueda-cuna-6" descr="cuna-metricas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!!rueda-icono-6" descr="icono-metricas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3" name="Google Shape;273;p7">
            <a:extLst>
              <a:ext uri="{FF2B5EF4-FFF2-40B4-BE49-F238E27FC236}">
                <a16:creationId xmlns:a16="http://schemas.microsoft.com/office/drawing/2014/main" id="{9CCBB382-32A1-6B99-1E19-D45C61501BE4}"/>
              </a:ext>
            </a:extLst>
          </p:cNvPr>
          <p:cNvSpPr txBox="1"/>
          <p:nvPr/>
        </p:nvSpPr>
        <p:spPr>
          <a:xfrm>
            <a:off x="3960000" y="946641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Release Plan del Proyecto</a:t>
            </a:r>
            <a:endParaRPr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BA3880B-274E-8D59-CE07-BCB037D36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46771"/>
              </p:ext>
            </p:extLst>
          </p:nvPr>
        </p:nvGraphicFramePr>
        <p:xfrm>
          <a:off x="3960000" y="1846641"/>
          <a:ext cx="7873199" cy="3803836"/>
        </p:xfrm>
        <a:graphic>
          <a:graphicData uri="http://schemas.openxmlformats.org/drawingml/2006/table">
            <a:tbl>
              <a:tblPr/>
              <a:tblGrid>
                <a:gridCol w="121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14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51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1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del 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 básica del 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Integrar base de datos y motor conversacional (LangChain)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Mejorar page scraper y subida de documentos para el 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Integrar la ticketera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final: estabilización, pruebas y despliegue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98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Historias de 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</a:t>
                      </a: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principales</a:t>
                      </a: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HU-129 Dashboard Global de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HU-122 Dashboard de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200" dirty="0">
                        <a:solidFill>
                          <a:srgbClr val="1F2937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HU-96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Idiomas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 modo claro/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oscuro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HU-12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Aislamiento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entre tenants.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HU-102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Conversación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final.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HU-119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Clasificador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intención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HU-145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filtrada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HU-42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con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procesamiento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HU-123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HU-35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Derivación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ejecutivo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disponible.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HU-128 Vista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supervisora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tickets.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HU-59 Api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/ bugs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prototipo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 completa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E7E4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!!rueda-cuna-2" descr="cuna-chat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!!rueda-icono-2" descr="icono-chat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!!rueda-cuna-3" descr="cuna-agentes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!!rueda-icono-3" descr="icono-agente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!!rueda-cuna-4" descr="cuna-derivacion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!!rueda-cuna-5" descr="cuna-da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!!rueda-icono-5" descr="icono-datos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!!rueda-cuna-6" descr="cuna-metricas.png"/>
          <p:cNvPicPr preferRelativeResize="0"/>
          <p:nvPr/>
        </p:nvPicPr>
        <p:blipFill rotWithShape="1">
          <a:blip r:embed="rId13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!!rueda-icono-6" descr="icono-metricas.png"/>
          <p:cNvPicPr preferRelativeResize="0"/>
          <p:nvPr/>
        </p:nvPicPr>
        <p:blipFill rotWithShape="1">
          <a:blip r:embed="rId14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9"/>
          <p:cNvSpPr txBox="1"/>
          <p:nvPr/>
        </p:nvSpPr>
        <p:spPr>
          <a:xfrm>
            <a:off x="-511634" y="2686943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/>
          </a:p>
        </p:txBody>
      </p:sp>
      <p:sp>
        <p:nvSpPr>
          <p:cNvPr id="384" name="Google Shape;384;p9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3" name="Google Shape;297;p8">
            <a:extLst>
              <a:ext uri="{FF2B5EF4-FFF2-40B4-BE49-F238E27FC236}">
                <a16:creationId xmlns:a16="http://schemas.microsoft.com/office/drawing/2014/main" id="{7C2C9260-9014-E683-67CA-590C62768FEC}"/>
              </a:ext>
            </a:extLst>
          </p:cNvPr>
          <p:cNvSpPr txBox="1"/>
          <p:nvPr/>
        </p:nvSpPr>
        <p:spPr>
          <a:xfrm>
            <a:off x="3959352" y="320040"/>
            <a:ext cx="683874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Diagrama de despliegue</a:t>
            </a:r>
            <a:endParaRPr dirty="0"/>
          </a:p>
        </p:txBody>
      </p:sp>
      <p:pic>
        <p:nvPicPr>
          <p:cNvPr id="385" name="Picture 384" descr="diagrama-despliegu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6972" y="1051560"/>
            <a:ext cx="8959335" cy="5166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1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0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!!rueda-cuna-2" descr="cuna-chat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!!rueda-icono-2" descr="icono-chat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!!rueda-cuna-3" descr="cuna-agentes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!!rueda-icono-3" descr="icono-agente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!!rueda-cuna-4" descr="cuna-derivacion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!!rueda-icono-4" descr="icono-derivacion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!!rueda-cuna-5" descr="cuna-da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!!rueda-icono-5" descr="icono-datos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!!rueda-cuna-6" descr="cuna-metricas.png"/>
          <p:cNvPicPr preferRelativeResize="0"/>
          <p:nvPr/>
        </p:nvPicPr>
        <p:blipFill rotWithShape="1">
          <a:blip r:embed="rId13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!!rueda-icono-6" descr="icono-metricas.png"/>
          <p:cNvPicPr preferRelativeResize="0"/>
          <p:nvPr/>
        </p:nvPicPr>
        <p:blipFill rotWithShape="1">
          <a:blip r:embed="rId14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0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endParaRPr/>
          </a:p>
        </p:txBody>
      </p:sp>
      <p:sp>
        <p:nvSpPr>
          <p:cNvPr id="406" name="Google Shape;406;p10"/>
          <p:cNvSpPr txBox="1"/>
          <p:nvPr/>
        </p:nvSpPr>
        <p:spPr>
          <a:xfrm>
            <a:off x="3992400" y="640275"/>
            <a:ext cx="75492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r>
              <a:rPr lang="en-US" sz="48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4800" b="1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trabajo</a:t>
            </a:r>
            <a:r>
              <a:rPr lang="en-US" sz="48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para el Desarrollo del </a:t>
            </a:r>
            <a:r>
              <a:rPr lang="en-US" sz="4800" b="1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sz="4800" dirty="0"/>
          </a:p>
        </p:txBody>
      </p:sp>
      <p:sp>
        <p:nvSpPr>
          <p:cNvPr id="407" name="Google Shape;407;p10"/>
          <p:cNvSpPr/>
          <p:nvPr/>
        </p:nvSpPr>
        <p:spPr>
          <a:xfrm>
            <a:off x="3960000" y="2268093"/>
            <a:ext cx="7549200" cy="64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Scrum </a:t>
            </a:r>
            <a:r>
              <a:rPr lang="en-US" sz="220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adaptado</a:t>
            </a:r>
            <a:r>
              <a:rPr lang="en-US" sz="220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408" name="Google Shape;408;p10"/>
          <p:cNvSpPr/>
          <p:nvPr/>
        </p:nvSpPr>
        <p:spPr>
          <a:xfrm>
            <a:off x="3960000" y="3168000"/>
            <a:ext cx="36126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960000" y="3189600"/>
            <a:ext cx="64800" cy="2908800"/>
          </a:xfrm>
          <a:prstGeom prst="rect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266000" y="3366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049A95"/>
                </a:solidFill>
                <a:latin typeface="Calibri"/>
                <a:ea typeface="Calibri"/>
                <a:cs typeface="Calibri"/>
                <a:sym typeface="Calibri"/>
              </a:rPr>
              <a:t>RITMO</a:t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4266000" y="3798000"/>
            <a:ext cx="3108600" cy="2124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Sprints de dos semanas.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73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Daily asíncrona por escrito.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73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Review con demo sobre la app desplegada.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73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Retrospectiva al cierre.</a:t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7896600" y="3168000"/>
            <a:ext cx="36126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7896600" y="3189600"/>
            <a:ext cx="64800" cy="2908800"/>
          </a:xfrm>
          <a:prstGeom prst="rect">
            <a:avLst/>
          </a:prstGeom>
          <a:solidFill>
            <a:srgbClr val="6EA5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8202600" y="3366000"/>
            <a:ext cx="3108600" cy="360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6EA52C"/>
                </a:solidFill>
                <a:latin typeface="Calibri"/>
                <a:ea typeface="Calibri"/>
                <a:cs typeface="Calibri"/>
                <a:sym typeface="Calibri"/>
              </a:rPr>
              <a:t>CALIDAD</a:t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8202600" y="3798000"/>
            <a:ext cx="3108600" cy="2124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ruff y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pytest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push.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230"/>
              </a:spcBef>
              <a:spcAft>
                <a:spcPts val="0"/>
              </a:spcAft>
              <a:buNone/>
            </a:pP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Prueba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aislamiento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230"/>
              </a:spcBef>
              <a:spcAft>
                <a:spcPts val="0"/>
              </a:spcAft>
              <a:buNone/>
            </a:pP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prueba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230"/>
              </a:spcBef>
              <a:spcAft>
                <a:spcPts val="0"/>
              </a:spcAft>
              <a:buNone/>
            </a:pP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•  Un ADR corto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por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70" b="0" i="0" u="none" strike="noStrike" cap="none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decisión</a:t>
            </a:r>
            <a:r>
              <a:rPr lang="en-US" sz="1670" b="0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416" name="Google Shape;416;p10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!!rueda-cuna-2" descr="cuna-chat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!!rueda-icono-2" descr="icono-chat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!!rueda-cuna-3" descr="cuna-agentes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!!rueda-icono-3" descr="icono-agente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!!rueda-cuna-4" descr="cuna-derivacion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!!rueda-cuna-5" descr="cuna-datos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!!rueda-icono-5" descr="icono-datos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!!rueda-cuna-6" descr="cuna-metricas.png"/>
          <p:cNvPicPr preferRelativeResize="0"/>
          <p:nvPr/>
        </p:nvPicPr>
        <p:blipFill rotWithShape="1">
          <a:blip r:embed="rId13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!!rueda-icono-6" descr="icono-metricas.png"/>
          <p:cNvPicPr preferRelativeResize="0"/>
          <p:nvPr/>
        </p:nvPicPr>
        <p:blipFill rotWithShape="1">
          <a:blip r:embed="rId14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1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</p:txBody>
      </p:sp>
      <p:sp>
        <p:nvSpPr>
          <p:cNvPr id="437" name="Google Shape;437;p11"/>
          <p:cNvSpPr txBox="1"/>
          <p:nvPr/>
        </p:nvSpPr>
        <p:spPr>
          <a:xfrm>
            <a:off x="3960000" y="778559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dirty="0"/>
          </a:p>
        </p:txBody>
      </p:sp>
      <p:sp>
        <p:nvSpPr>
          <p:cNvPr id="438" name="Google Shape;438;p11"/>
          <p:cNvSpPr/>
          <p:nvPr/>
        </p:nvSpPr>
        <p:spPr>
          <a:xfrm>
            <a:off x="3960000" y="2124000"/>
            <a:ext cx="7549200" cy="64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Toda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tabla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lleva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tenant_id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: es lo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impide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una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vea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70" b="0" i="0" u="none" strike="noStrike" cap="none" dirty="0" err="1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otra</a:t>
            </a:r>
            <a:r>
              <a:rPr lang="en-US" sz="2070" b="0" i="0" u="none" strike="noStrike" cap="none" dirty="0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pic>
        <p:nvPicPr>
          <p:cNvPr id="439" name="Google Shape;439;p11" descr="ingesta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072000" y="3960000"/>
            <a:ext cx="2932363" cy="23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1"/>
          <p:cNvSpPr/>
          <p:nvPr/>
        </p:nvSpPr>
        <p:spPr>
          <a:xfrm>
            <a:off x="3960000" y="31140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3960000" y="3135600"/>
            <a:ext cx="64800" cy="586800"/>
          </a:xfrm>
          <a:prstGeom prst="rect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4248000" y="31860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46B74"/>
                </a:solidFill>
                <a:latin typeface="Calibri"/>
                <a:ea typeface="Calibri"/>
                <a:cs typeface="Calibri"/>
                <a:sym typeface="Calibri"/>
              </a:rPr>
              <a:t>EMPRESAS Y ACCESO</a:t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4248000" y="34452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tenants · users · refresh_tokens</a:t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3960000" y="38268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3960000" y="3848400"/>
            <a:ext cx="64800" cy="586800"/>
          </a:xfrm>
          <a:prstGeom prst="rect">
            <a:avLst/>
          </a:prstGeom>
          <a:solidFill>
            <a:srgbClr val="6EA5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4248000" y="38988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46B74"/>
                </a:solidFill>
                <a:latin typeface="Calibri"/>
                <a:ea typeface="Calibri"/>
                <a:cs typeface="Calibri"/>
                <a:sym typeface="Calibri"/>
              </a:rPr>
              <a:t>CONOCIMIENTO</a:t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4248000" y="41580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documents · chunks · faqs · website_scans</a:t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3960000" y="45396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960000" y="4561200"/>
            <a:ext cx="64800" cy="586800"/>
          </a:xfrm>
          <a:prstGeom prst="rect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4248000" y="46116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46B74"/>
                </a:solidFill>
                <a:latin typeface="Calibri"/>
                <a:ea typeface="Calibri"/>
                <a:cs typeface="Calibri"/>
                <a:sym typeface="Calibri"/>
              </a:rPr>
              <a:t>CONVERSACIÓN</a:t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4248000" y="48708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bot_agents · conversations · messages</a:t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3960000" y="5252400"/>
            <a:ext cx="5112000" cy="6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960000" y="5274000"/>
            <a:ext cx="64800" cy="586800"/>
          </a:xfrm>
          <a:prstGeom prst="rect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4248000" y="5324400"/>
            <a:ext cx="4680000" cy="251999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46B74"/>
                </a:solidFill>
                <a:latin typeface="Calibri"/>
                <a:ea typeface="Calibri"/>
                <a:cs typeface="Calibri"/>
                <a:sym typeface="Calibri"/>
              </a:rPr>
              <a:t>ATENCIÓN</a:t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4248000" y="5583600"/>
            <a:ext cx="468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tickets · usage_events</a:t>
            </a:r>
            <a:endParaRPr/>
          </a:p>
        </p:txBody>
      </p:sp>
      <p:sp>
        <p:nvSpPr>
          <p:cNvPr id="456" name="Google Shape;456;p11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E7E4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94D9D5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94D9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!!rueda-cuna-2" descr="cuna-chat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!!rueda-icono-2" descr="icono-chat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!!rueda-cuna-3" descr="cuna-agentes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!!rueda-icono-3" descr="icono-agente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!!rueda-cuna-4" descr="cuna-derivacion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!!rueda-cuna-5" descr="cuna-da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!!rueda-icono-5" descr="icono-datos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!!rueda-cuna-6" descr="cuna-metricas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!!rueda-icono-6" descr="icono-metricas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2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/>
          </a:p>
        </p:txBody>
      </p:sp>
      <p:sp>
        <p:nvSpPr>
          <p:cNvPr id="476" name="Google Shape;476;p12"/>
          <p:cNvSpPr txBox="1"/>
          <p:nvPr/>
        </p:nvSpPr>
        <p:spPr>
          <a:xfrm>
            <a:off x="3959999" y="1789514"/>
            <a:ext cx="75492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6EA52C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dirty="0"/>
          </a:p>
        </p:txBody>
      </p:sp>
      <p:sp>
        <p:nvSpPr>
          <p:cNvPr id="477" name="Google Shape;477;p12"/>
          <p:cNvSpPr txBox="1"/>
          <p:nvPr/>
        </p:nvSpPr>
        <p:spPr>
          <a:xfrm>
            <a:off x="3959999" y="902280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r>
              <a:rPr lang="en-US" sz="5000" b="1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000" b="1" dirty="0" err="1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Utilizadas</a:t>
            </a:r>
            <a:endParaRPr dirty="0"/>
          </a:p>
        </p:txBody>
      </p:sp>
      <p:pic>
        <p:nvPicPr>
          <p:cNvPr id="478" name="Google Shape;478;p12" descr="metricas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000000" y="3888000"/>
            <a:ext cx="2932363" cy="23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2"/>
          <p:cNvSpPr/>
          <p:nvPr/>
        </p:nvSpPr>
        <p:spPr>
          <a:xfrm>
            <a:off x="3960000" y="25920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3960000" y="2613600"/>
            <a:ext cx="64800" cy="496799"/>
          </a:xfrm>
          <a:prstGeom prst="rect">
            <a:avLst/>
          </a:prstGeom>
          <a:solidFill>
            <a:srgbClr val="6EA5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4266000" y="27360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6480000" y="27216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9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React 18 + Vite</a:t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3960000" y="32112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3960000" y="32328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4266000" y="33552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6480000" y="33408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9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Python + FastAPI</a:t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3960000" y="38304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3960000" y="38520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4266000" y="39744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6480000" y="39600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8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PostgreSQL + pgvector</a:t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3960000" y="44496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3960000" y="44712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4266000" y="45936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6480000" y="45792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9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Groq (gpt-oss-120b)</a:t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3960000" y="50688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960000" y="50904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266000" y="52128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Colas y tiempo real</a:t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6480000" y="51984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9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arq sobre Redis</a:t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3960000" y="5688000"/>
            <a:ext cx="5112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 cap="flat" cmpd="sng">
            <a:solidFill>
              <a:srgbClr val="C3D6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44000" rIns="198000" bIns="14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3960000" y="5709600"/>
            <a:ext cx="64800" cy="496799"/>
          </a:xfrm>
          <a:prstGeom prst="rect">
            <a:avLst/>
          </a:prstGeom>
          <a:solidFill>
            <a:srgbClr val="049A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4266000" y="5832000"/>
            <a:ext cx="2160000" cy="288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6480000" y="5817600"/>
            <a:ext cx="2412000" cy="306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9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Vercel + Supabase</a:t>
            </a:r>
            <a:endParaRPr/>
          </a:p>
        </p:txBody>
      </p:sp>
      <p:sp>
        <p:nvSpPr>
          <p:cNvPr id="503" name="Google Shape;503;p12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AE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4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C7E98B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C7E9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5" name="!!rueda-cuna-1" descr="cuna-documentos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!!rueda-icono-1" descr="icono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!!rueda-cuna-2" descr="cuna-cha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!!rueda-icono-2" descr="icono-cha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!!rueda-cuna-3" descr="cuna-agentes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!!rueda-icono-3" descr="icono-agente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!!rueda-cuna-4" descr="cuna-derivacion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!!rueda-cuna-5" descr="cuna-da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!!rueda-icono-5" descr="icono-datos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!!rueda-cuna-6" descr="cuna-metricas.png"/>
          <p:cNvPicPr preferRelativeResize="0"/>
          <p:nvPr/>
        </p:nvPicPr>
        <p:blipFill rotWithShape="1">
          <a:blip r:embed="rId13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!!rueda-icono-6" descr="icono-metricas.png"/>
          <p:cNvPicPr preferRelativeResize="0"/>
          <p:nvPr/>
        </p:nvPicPr>
        <p:blipFill rotWithShape="1">
          <a:blip r:embed="rId14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4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/>
          </a:p>
        </p:txBody>
      </p:sp>
      <p:pic>
        <p:nvPicPr>
          <p:cNvPr id="548" name="Google Shape;548;p14" descr="agent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280000" y="3311999"/>
            <a:ext cx="3665454" cy="28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4"/>
          <p:cNvSpPr/>
          <p:nvPr/>
        </p:nvSpPr>
        <p:spPr>
          <a:xfrm>
            <a:off x="3960000" y="1584000"/>
            <a:ext cx="1080000" cy="72000"/>
          </a:xfrm>
          <a:prstGeom prst="rect">
            <a:avLst/>
          </a:prstGeom>
          <a:solidFill>
            <a:srgbClr val="6EA5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 txBox="1"/>
          <p:nvPr/>
        </p:nvSpPr>
        <p:spPr>
          <a:xfrm>
            <a:off x="3960000" y="1728000"/>
            <a:ext cx="4752000" cy="27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Una primera línea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de atención que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no se construye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46B74"/>
                </a:solidFill>
                <a:latin typeface="Calibri"/>
                <a:ea typeface="Calibri"/>
                <a:cs typeface="Calibri"/>
                <a:sym typeface="Calibri"/>
              </a:rPr>
              <a:t>dos veces.</a:t>
            </a:r>
            <a:endParaRPr/>
          </a:p>
        </p:txBody>
      </p:sp>
      <p:sp>
        <p:nvSpPr>
          <p:cNvPr id="551" name="Google Shape;551;p14"/>
          <p:cNvSpPr txBox="1"/>
          <p:nvPr/>
        </p:nvSpPr>
        <p:spPr>
          <a:xfrm>
            <a:off x="3960000" y="4526280"/>
            <a:ext cx="512064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Clientes iniciales: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WellQ, Alloxentric, Directa y Dani27001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Caso de prueba: </a:t>
            </a:r>
            <a:r>
              <a:rPr lang="en-US" sz="20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Duoc UC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duoc.cl en 3 min: 172 páginas · 987 documentos de mallas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Informe de avance: 16 de octubre de 2026</a:t>
            </a:r>
            <a:endParaRPr/>
          </a:p>
        </p:txBody>
      </p:sp>
      <p:sp>
        <p:nvSpPr>
          <p:cNvPr id="552" name="Google Shape;552;p14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3" name="Google Shape;233;p6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!!rueda-cuna-1" descr="cuna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!!rueda-icono-1" descr="icono-documen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!!rueda-cuna-2" descr="cuna-chat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!!rueda-icono-2" descr="icono-chat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!!rueda-cuna-3" descr="cuna-agentes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!!rueda-icono-3" descr="icono-agentes.png"/>
          <p:cNvPicPr preferRelativeResize="0"/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!!rueda-cuna-4" descr="cuna-derivacion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!!rueda-cuna-5" descr="cuna-dato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!!rueda-icono-5" descr="icono-datos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!!rueda-cuna-6" descr="cuna-metrica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!!rueda-icono-6" descr="icono-metricas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ANEXO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" name="Google Shape;273;p7">
            <a:extLst>
              <a:ext uri="{FF2B5EF4-FFF2-40B4-BE49-F238E27FC236}">
                <a16:creationId xmlns:a16="http://schemas.microsoft.com/office/drawing/2014/main" id="{9CCBB382-32A1-6B99-1E19-D45C61501BE4}"/>
              </a:ext>
            </a:extLst>
          </p:cNvPr>
          <p:cNvSpPr txBox="1"/>
          <p:nvPr/>
        </p:nvSpPr>
        <p:spPr>
          <a:xfrm>
            <a:off x="3960000" y="946641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Carga de Duoc UC</a:t>
            </a:r>
            <a:endParaRPr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BA3880B-274E-8D59-CE07-BCB037D36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46771"/>
              </p:ext>
            </p:extLst>
          </p:nvPr>
        </p:nvGraphicFramePr>
        <p:xfrm>
          <a:off x="3960000" y="1846641"/>
          <a:ext cx="7863840" cy="31089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cargó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Escaneo de duoc.cl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carreras, oferta académica, admisión y preguntas frecuentes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páginas indexadas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b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 12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s, en tandas de ~20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Primera carga completa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escaneo + 95 mallas + configuración del 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páginas y 95 documentos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b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unos 6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Mallas por semestre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carga definitiva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969 documentos nuevos, sin fallas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omitidos por repetidos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b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unos 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~1,2 s por documento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 páginas · 987 documentos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1.030 fragmentos, todos indexados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unos 26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3" name="TextBox 252"/>
          <p:cNvSpPr txBox="1"/>
          <p:nvPr/>
        </p:nvSpPr>
        <p:spPr>
          <a:xfrm>
            <a:off x="3960000" y="506532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B5B63"/>
                </a:solidFill>
                <a:latin typeface="Calibri"/>
              </a:rPr>
              <a:t>Medido por los scripts de carga contra producción (Vercel + Supabase), 16-10-2026. Los 6 min son aproximados; lo demás, medición directa.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3" name="Google Shape;233;p6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!!rueda-cuna-1" descr="cuna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!!rueda-icono-1" descr="icono-documen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!!rueda-cuna-2" descr="cuna-chat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!!rueda-icono-2" descr="icono-chat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!!rueda-cuna-3" descr="cuna-agentes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!!rueda-icono-3" descr="icono-agentes.png"/>
          <p:cNvPicPr preferRelativeResize="0"/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!!rueda-cuna-4" descr="cuna-derivacion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!!rueda-cuna-5" descr="cuna-dato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!!rueda-icono-5" descr="icono-datos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!!rueda-cuna-6" descr="cuna-metrica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!!rueda-icono-6" descr="icono-metricas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ANEXO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3" name="Google Shape;273;p7">
            <a:extLst>
              <a:ext uri="{FF2B5EF4-FFF2-40B4-BE49-F238E27FC236}">
                <a16:creationId xmlns:a16="http://schemas.microsoft.com/office/drawing/2014/main" id="{9CCBB382-32A1-6B99-1E19-D45C61501BE4}"/>
              </a:ext>
            </a:extLst>
          </p:cNvPr>
          <p:cNvSpPr txBox="1"/>
          <p:nvPr/>
        </p:nvSpPr>
        <p:spPr>
          <a:xfrm>
            <a:off x="3960000" y="946641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Cómo responde el bot</a:t>
            </a:r>
            <a:endParaRPr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BA3880B-274E-8D59-CE07-BCB037D36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46771"/>
              </p:ext>
            </p:extLst>
          </p:nvPr>
        </p:nvGraphicFramePr>
        <p:xfrm>
          <a:off x="3960000" y="1846641"/>
          <a:ext cx="7863840" cy="38039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¿Usa IA?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Reformular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el mensaje en una pregunta completa con lo ya conversado y suma sinónimos para buscar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Clasificar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Elige el agente técnico o el comercial: reglas, temas de la empresa y, si no basta, la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Recuperar (RAG)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los 5 pasajes más parecidos, solo en la base de conocimiento de esa empresa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Generar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IA responde solo con esos pasajes, en el idioma del 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Verificar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Otra consulta revisa que la respuesta se apoye en los pasajes; si inventa, dice que no tiene la información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Reglas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 la respuesta a las reglas del negocio que escribió la empresa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si hay reglas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Comprobar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Borra las líneas con enlaces, correos, teléfonos o montos que no estén en la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3" name="TextBox 252"/>
          <p:cNvSpPr txBox="1"/>
          <p:nvPr/>
        </p:nvSpPr>
        <p:spPr>
          <a:xfrm>
            <a:off x="3960000" y="5760273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B5B63"/>
                </a:solidFill>
                <a:latin typeface="Calibri"/>
              </a:rPr>
              <a:t>Si no encuentra la respuesta dos veces, ofrece una persona: un ejecutivo en vivo o un ticket.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3" name="Google Shape;233;p6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!!rueda-cuna-1" descr="cuna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!!rueda-icono-1" descr="icono-documen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!!rueda-cuna-2" descr="cuna-chat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!!rueda-icono-2" descr="icono-chat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!!rueda-cuna-3" descr="cuna-agentes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!!rueda-icono-3" descr="icono-agentes.png"/>
          <p:cNvPicPr preferRelativeResize="0"/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!!rueda-cuna-4" descr="cuna-derivacion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!!rueda-cuna-5" descr="cuna-dato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!!rueda-icono-5" descr="icono-datos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!!rueda-cuna-6" descr="cuna-metrica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!!rueda-icono-6" descr="icono-metricas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ANEXO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" name="Google Shape;273;p7">
            <a:extLst>
              <a:ext uri="{FF2B5EF4-FFF2-40B4-BE49-F238E27FC236}">
                <a16:creationId xmlns:a16="http://schemas.microsoft.com/office/drawing/2014/main" id="{9CCBB382-32A1-6B99-1E19-D45C61501BE4}"/>
              </a:ext>
            </a:extLst>
          </p:cNvPr>
          <p:cNvSpPr txBox="1"/>
          <p:nvPr/>
        </p:nvSpPr>
        <p:spPr>
          <a:xfrm>
            <a:off x="3960000" y="946641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Pruébalo en vivo</a:t>
            </a:r>
            <a:endParaRPr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BA3880B-274E-8D59-CE07-BCB037D36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46771"/>
              </p:ext>
            </p:extLst>
          </p:nvPr>
        </p:nvGraphicFramePr>
        <p:xfrm>
          <a:off x="3960000" y="1846641"/>
          <a:ext cx="5943600" cy="313639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muestra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«¿Qué ramos tiene el tercer semestre de Ingeniería en Informática?»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4 ramos con su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con las mallas · 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«¿Qué certificaciones obtengo en Ingeniería en Desarrollo de Software?»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3 certificaciones y sus ramos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«¿Puedo matricularme si estoy en Dicom?»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«Sí», con el enlace a la pregunta frecuente de duoc.cl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«Hablar con una persona»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Derivación en vivo, o ticket si no hay nadie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3" name="TextBox 252"/>
          <p:cNvSpPr txBox="1"/>
          <p:nvPr/>
        </p:nvSpPr>
        <p:spPr>
          <a:xfrm>
            <a:off x="3960000" y="5092761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B5B63"/>
                </a:solidFill>
                <a:latin typeface="Calibri"/>
              </a:rPr>
              <a:t>Probadas en producción el 16-10-2026. Para pedir una persona, usar el botón: escribirlo no deriva.</a:t>
            </a:r>
          </a:p>
        </p:txBody>
      </p:sp>
      <p:pic>
        <p:nvPicPr>
          <p:cNvPr id="254" name="Picture 253" descr="qr-chat-duo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95560" y="1920240"/>
            <a:ext cx="1600200" cy="1600200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10104120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B5B63"/>
                </a:solidFill>
                <a:latin typeface="Calibri"/>
              </a:rPr>
              <a:t>Chat de Duoc UC</a:t>
            </a:r>
          </a:p>
          <a:p>
            <a:r>
              <a:rPr sz="1000">
                <a:solidFill>
                  <a:srgbClr val="3B5B63"/>
                </a:solidFill>
                <a:latin typeface="Calibri"/>
              </a:rPr>
              <a:t>frontend-one-liart-11</a:t>
            </a:r>
          </a:p>
          <a:p>
            <a:r>
              <a:rPr sz="1000">
                <a:solidFill>
                  <a:srgbClr val="3B5B63"/>
                </a:solidFill>
                <a:latin typeface="Calibri"/>
              </a:rPr>
              <a:t>.vercel.app/c/duoc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3" name="Google Shape;233;p6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!!rueda-cuna-1" descr="cuna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!!rueda-icono-1" descr="icono-documen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!!rueda-cuna-2" descr="cuna-chat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!!rueda-icono-2" descr="icono-chat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!!rueda-cuna-3" descr="cuna-agentes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!!rueda-icono-3" descr="icono-agentes.png"/>
          <p:cNvPicPr preferRelativeResize="0"/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!!rueda-cuna-4" descr="cuna-derivacion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!!rueda-cuna-5" descr="cuna-dato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!!rueda-icono-5" descr="icono-datos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!!rueda-cuna-6" descr="cuna-metrica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!!rueda-icono-6" descr="icono-metricas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ANEXO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3" name="Google Shape;273;p7">
            <a:extLst>
              <a:ext uri="{FF2B5EF4-FFF2-40B4-BE49-F238E27FC236}">
                <a16:creationId xmlns:a16="http://schemas.microsoft.com/office/drawing/2014/main" id="{9CCBB382-32A1-6B99-1E19-D45C61501BE4}"/>
              </a:ext>
            </a:extLst>
          </p:cNvPr>
          <p:cNvSpPr txBox="1"/>
          <p:nvPr/>
        </p:nvSpPr>
        <p:spPr>
          <a:xfrm>
            <a:off x="3960000" y="946641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Si falla la conexión</a:t>
            </a:r>
            <a:endParaRPr dirty="0"/>
          </a:p>
        </p:txBody>
      </p:sp>
      <p:pic>
        <p:nvPicPr>
          <p:cNvPr id="253" name="Picture 252" descr="14-chat-duoc-ramos-tercer-semestr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77639" y="1783080"/>
            <a:ext cx="3291840" cy="2057400"/>
          </a:xfrm>
          <a:prstGeom prst="rect">
            <a:avLst/>
          </a:prstGeom>
        </p:spPr>
      </p:pic>
      <p:sp>
        <p:nvSpPr>
          <p:cNvPr id="254" name="TextBox 253"/>
          <p:cNvSpPr txBox="1"/>
          <p:nvPr/>
        </p:nvSpPr>
        <p:spPr>
          <a:xfrm>
            <a:off x="3977639" y="3858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B5B63"/>
                </a:solidFill>
                <a:latin typeface="Calibri"/>
              </a:rPr>
              <a:t>Duoc UC: ramos del tercer semestre</a:t>
            </a:r>
          </a:p>
        </p:txBody>
      </p:sp>
      <p:pic>
        <p:nvPicPr>
          <p:cNvPr id="255" name="Picture 254" descr="15-chat-duoc-certificacione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9559" y="1783080"/>
            <a:ext cx="3291840" cy="2057400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7909559" y="3858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B5B63"/>
                </a:solidFill>
                <a:latin typeface="Calibri"/>
              </a:rPr>
              <a:t>Duoc UC: certificaciones de la carrera</a:t>
            </a:r>
          </a:p>
        </p:txBody>
      </p:sp>
      <p:pic>
        <p:nvPicPr>
          <p:cNvPr id="257" name="Picture 256" descr="16-chat-directa-plan-fibr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7639" y="4114800"/>
            <a:ext cx="3291840" cy="2057400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3977639" y="61904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B5B63"/>
                </a:solidFill>
                <a:latin typeface="Calibri"/>
              </a:rPr>
              <a:t>Directa: otra empresa, otra base de conocimiento</a:t>
            </a:r>
          </a:p>
        </p:txBody>
      </p:sp>
      <p:pic>
        <p:nvPicPr>
          <p:cNvPr id="259" name="Picture 258" descr="17-consola-ejecutivo-en-viv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09559" y="4114800"/>
            <a:ext cx="3291840" cy="2057400"/>
          </a:xfrm>
          <a:prstGeom prst="rect">
            <a:avLst/>
          </a:prstGeom>
        </p:spPr>
      </p:pic>
      <p:sp>
        <p:nvSpPr>
          <p:cNvPr id="260" name="TextBox 259"/>
          <p:cNvSpPr txBox="1"/>
          <p:nvPr/>
        </p:nvSpPr>
        <p:spPr>
          <a:xfrm>
            <a:off x="7909559" y="61904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B5B63"/>
                </a:solidFill>
                <a:latin typeface="Calibri"/>
              </a:rPr>
              <a:t>Consola del ejecutivo: derivación en vivo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3" name="Google Shape;233;p6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!!rueda-cuna-1" descr="cuna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!!rueda-icono-1" descr="icono-documen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!!rueda-cuna-2" descr="cuna-chat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!!rueda-icono-2" descr="icono-chat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!!rueda-cuna-3" descr="cuna-agentes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!!rueda-icono-3" descr="icono-agentes.png"/>
          <p:cNvPicPr preferRelativeResize="0"/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!!rueda-cuna-4" descr="cuna-derivacion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!!rueda-cuna-5" descr="cuna-dato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!!rueda-icono-5" descr="icono-datos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!!rueda-cuna-6" descr="cuna-metrica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!!rueda-icono-6" descr="icono-metricas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ANEXO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" name="Google Shape;273;p7">
            <a:extLst>
              <a:ext uri="{FF2B5EF4-FFF2-40B4-BE49-F238E27FC236}">
                <a16:creationId xmlns:a16="http://schemas.microsoft.com/office/drawing/2014/main" id="{9CCBB382-32A1-6B99-1E19-D45C61501BE4}"/>
              </a:ext>
            </a:extLst>
          </p:cNvPr>
          <p:cNvSpPr txBox="1"/>
          <p:nvPr/>
        </p:nvSpPr>
        <p:spPr>
          <a:xfrm>
            <a:off x="3960000" y="946641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Cómo lo medimos</a:t>
            </a:r>
            <a:endParaRPr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BA3880B-274E-8D59-CE07-BCB037D36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46771"/>
              </p:ext>
            </p:extLst>
          </p:nvPr>
        </p:nvGraphicFramePr>
        <p:xfrm>
          <a:off x="3960000" y="1846641"/>
          <a:ext cx="7863840" cy="31821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mide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automáticas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b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 en cada cambio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Actions, sobre SQLite y PostgreSQL con pgvector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Clasificador técnico / 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b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meta: 90 %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de 120 preguntas en 3 idiomas; mitad reservada para validar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Ramos por semestre (Duoc UC)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b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de 60 · 4 de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Simulación de la búsqueda · preguntas en producción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inventados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b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 «comprobar»: el teléfono y el correo inventados del 15-10 ya no llegan (12 pruebas)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Aislamiento entre empresas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b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una ve solo lo suyo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con dos empresas preguntando a la vez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3" name="Google Shape;233;p6"/>
          <p:cNvSpPr/>
          <p:nvPr/>
        </p:nvSpPr>
        <p:spPr>
          <a:xfrm>
            <a:off x="-3600000" y="4824000"/>
            <a:ext cx="19393200" cy="5760000"/>
          </a:xfrm>
          <a:prstGeom prst="ellipse">
            <a:avLst/>
          </a:prstGeom>
          <a:solidFill>
            <a:srgbClr val="DDEAE2">
              <a:alpha val="4509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-2160000" y="5472000"/>
            <a:ext cx="16513200" cy="5040000"/>
          </a:xfrm>
          <a:prstGeom prst="ellipse">
            <a:avLst/>
          </a:prstGeom>
          <a:solidFill>
            <a:srgbClr val="DDE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!!rueda-cuna-1" descr="cuna-documentos.png"/>
          <p:cNvPicPr preferRelativeResize="0"/>
          <p:nvPr/>
        </p:nvPicPr>
        <p:blipFill rotWithShape="1">
          <a:blip r:embed="rId4">
            <a:alphaModFix amt="45000"/>
          </a:blip>
          <a:srcRect/>
          <a:stretch/>
        </p:blipFill>
        <p:spPr>
          <a:xfrm rot="21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!!rueda-icono-1" descr="icono-documentos.png"/>
          <p:cNvPicPr preferRelativeResize="0"/>
          <p:nvPr/>
        </p:nvPicPr>
        <p:blipFill rotWithShape="1">
          <a:blip r:embed="rId11">
            <a:alphaModFix amt="45000"/>
          </a:blip>
          <a:srcRect/>
          <a:stretch/>
        </p:blipFill>
        <p:spPr>
          <a:xfrm>
            <a:off x="2006086" y="3812562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!!rueda-cuna-2" descr="cuna-chat.png"/>
          <p:cNvPicPr preferRelativeResize="0"/>
          <p:nvPr/>
        </p:nvPicPr>
        <p:blipFill rotWithShape="1">
          <a:blip r:embed="rId9">
            <a:alphaModFix amt="45000"/>
          </a:blip>
          <a:srcRect/>
          <a:stretch/>
        </p:blipFill>
        <p:spPr>
          <a:xfrm rot="57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!!rueda-icono-2" descr="icono-chat.png"/>
          <p:cNvPicPr preferRelativeResize="0"/>
          <p:nvPr/>
        </p:nvPicPr>
        <p:blipFill rotWithShape="1">
          <a:blip r:embed="rId7">
            <a:alphaModFix amt="45000"/>
          </a:blip>
          <a:srcRect/>
          <a:stretch/>
        </p:blipFill>
        <p:spPr>
          <a:xfrm>
            <a:off x="248946" y="4594891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!!rueda-cuna-3" descr="cuna-agentes.png"/>
          <p:cNvPicPr preferRelativeResize="0"/>
          <p:nvPr/>
        </p:nvPicPr>
        <p:blipFill rotWithShape="1">
          <a:blip r:embed="rId5">
            <a:alphaModFix amt="45000"/>
          </a:blip>
          <a:srcRect/>
          <a:stretch/>
        </p:blipFill>
        <p:spPr>
          <a:xfrm rot="936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!!rueda-icono-3" descr="icono-agentes.png"/>
          <p:cNvPicPr preferRelativeResize="0"/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-1307139" y="346432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!!rueda-cuna-4" descr="cuna-derivacion.png"/>
          <p:cNvPicPr preferRelativeResize="0"/>
          <p:nvPr/>
        </p:nvPicPr>
        <p:blipFill rotWithShape="1">
          <a:blip r:embed="rId12">
            <a:alphaModFix amt="45000"/>
          </a:blip>
          <a:srcRect/>
          <a:stretch/>
        </p:blipFill>
        <p:spPr>
          <a:xfrm rot="-86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!!rueda-icono-4" descr="icono-derivacion.png"/>
          <p:cNvPicPr preferRelativeResize="0"/>
          <p:nvPr/>
        </p:nvPicPr>
        <p:blipFill rotWithShape="1">
          <a:blip r:embed="rId10">
            <a:alphaModFix amt="45000"/>
          </a:blip>
          <a:srcRect/>
          <a:stretch/>
        </p:blipFill>
        <p:spPr>
          <a:xfrm>
            <a:off x="-1106086" y="1551437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!!rueda-cuna-5" descr="cuna-datos.png"/>
          <p:cNvPicPr preferRelativeResize="0"/>
          <p:nvPr/>
        </p:nvPicPr>
        <p:blipFill rotWithShape="1">
          <a:blip r:embed="rId8">
            <a:alphaModFix amt="45000"/>
          </a:blip>
          <a:srcRect/>
          <a:stretch/>
        </p:blipFill>
        <p:spPr>
          <a:xfrm rot="-50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!!rueda-icono-5" descr="icono-datos.png"/>
          <p:cNvPicPr preferRelativeResize="0"/>
          <p:nvPr/>
        </p:nvPicPr>
        <p:blipFill rotWithShape="1">
          <a:blip r:embed="rId6">
            <a:alphaModFix amt="45000"/>
          </a:blip>
          <a:srcRect/>
          <a:stretch/>
        </p:blipFill>
        <p:spPr>
          <a:xfrm>
            <a:off x="651053" y="769108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!!rueda-cuna-6" descr="cuna-metrica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440000">
            <a:off x="-1655999" y="576000"/>
            <a:ext cx="4896000" cy="48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!!rueda-icono-6" descr="icono-metricas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07139" y="1899671"/>
            <a:ext cx="684000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 txBox="1"/>
          <p:nvPr/>
        </p:nvSpPr>
        <p:spPr>
          <a:xfrm>
            <a:off x="-720000" y="2736000"/>
            <a:ext cx="302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ANEXO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1185199" y="6318000"/>
            <a:ext cx="64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B5B63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3" name="Google Shape;273;p7">
            <a:extLst>
              <a:ext uri="{FF2B5EF4-FFF2-40B4-BE49-F238E27FC236}">
                <a16:creationId xmlns:a16="http://schemas.microsoft.com/office/drawing/2014/main" id="{9CCBB382-32A1-6B99-1E19-D45C61501BE4}"/>
              </a:ext>
            </a:extLst>
          </p:cNvPr>
          <p:cNvSpPr txBox="1"/>
          <p:nvPr/>
        </p:nvSpPr>
        <p:spPr>
          <a:xfrm>
            <a:off x="3960000" y="946641"/>
            <a:ext cx="7549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14303A"/>
                </a:solidFill>
                <a:latin typeface="Calibri"/>
                <a:ea typeface="Calibri"/>
                <a:cs typeface="Calibri"/>
                <a:sym typeface="Calibri"/>
              </a:rPr>
              <a:t>Límites conocidos</a:t>
            </a:r>
            <a:endParaRPr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5BA3880B-274E-8D59-CE07-BCB037D36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46771"/>
              </p:ext>
            </p:extLst>
          </p:nvPr>
        </p:nvGraphicFramePr>
        <p:xfrm>
          <a:off x="3960000" y="1846641"/>
          <a:ext cx="7863840" cy="36393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pasa hoy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hace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en vivo en Vercel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WebSocket: el chat consulta cada pocos segundos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Funciona; WebSocket en local o con un host de procesos largos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archivos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disco de Vercel es de solo lectura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Texto, preguntas frecuentes y escaneo sí funcionan; Azure Blob programado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por palabras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pregunta general a veces no encuentra el resumen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«Reformular» suma sinónimos; embeddings de Azure programados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Siglas y nombres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«Comprobar» no los revisa: expandió mal FUAS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Sumar nombres propios a la comprobación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Pedir una persona escribiendo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deriva el botón o dos fallos seguidos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«derivar» evaluado para la siguiente etapa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78,3 %, bajo la meta de 90 %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anotado y matriz de confusión para el informe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Personalizado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MANUEL . JANSEN ARAVENA</cp:lastModifiedBy>
  <cp:revision>1</cp:revision>
  <dcterms:created xsi:type="dcterms:W3CDTF">2013-01-27T09:14:16Z</dcterms:created>
  <dcterms:modified xsi:type="dcterms:W3CDTF">2026-10-16T00:12:55Z</dcterms:modified>
</cp:coreProperties>
</file>