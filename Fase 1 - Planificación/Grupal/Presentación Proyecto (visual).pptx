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358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917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video" Target="../media/media1.mp4"/><Relationship Id="rId16" Type="http://schemas.openxmlformats.org/officeDocument/2006/relationships/image" Target="../media/image21.png"/><Relationship Id="rId1" Type="http://schemas.microsoft.com/office/2007/relationships/media" Target="../media/media1.mp4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5" Type="http://schemas.openxmlformats.org/officeDocument/2006/relationships/image" Target="../media/image12.pn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F3A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C7E98B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C7E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CAPSTONE</a:t>
            </a:r>
          </a:p>
        </p:txBody>
      </p:sp>
      <p:pic>
        <p:nvPicPr>
          <p:cNvPr id="17" name="Picture 16" descr="bot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32000" y="2808000"/>
            <a:ext cx="4398545" cy="3456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3960000" y="1512000"/>
            <a:ext cx="1080000" cy="72000"/>
          </a:xfrm>
          <a:prstGeom prst="rect">
            <a:avLst/>
          </a:prstGeom>
          <a:solidFill>
            <a:srgbClr val="6EA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960000" y="1764000"/>
            <a:ext cx="7740000" cy="230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200" b="1">
                <a:solidFill>
                  <a:srgbClr val="14303A"/>
                </a:solidFill>
                <a:latin typeface="Calibri"/>
              </a:rPr>
              <a:t>Chatbot de Soporte</a:t>
            </a:r>
          </a:p>
          <a:p>
            <a:pPr algn="l">
              <a:lnSpc>
                <a:spcPct val="95000"/>
              </a:lnSpc>
            </a:pPr>
            <a:r>
              <a:rPr sz="6200" b="1">
                <a:solidFill>
                  <a:srgbClr val="046B74"/>
                </a:solidFill>
                <a:latin typeface="Calibri"/>
              </a:rPr>
              <a:t>Genérico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0000" y="4031999"/>
            <a:ext cx="4320000" cy="10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0">
                <a:solidFill>
                  <a:srgbClr val="3B5B63"/>
                </a:solidFill>
                <a:latin typeface="Calibri"/>
              </a:rPr>
              <a:t>Una plataforma de soporte</a:t>
            </a:r>
          </a:p>
          <a:p>
            <a:pPr algn="l"/>
            <a:r>
              <a:rPr sz="2400" b="0">
                <a:solidFill>
                  <a:srgbClr val="3B5B63"/>
                </a:solidFill>
                <a:latin typeface="Calibri"/>
              </a:rPr>
              <a:t>para todas las empresas</a:t>
            </a:r>
          </a:p>
          <a:p>
            <a:pPr algn="l"/>
            <a:r>
              <a:rPr sz="2400" b="0">
                <a:solidFill>
                  <a:srgbClr val="3B5B63"/>
                </a:solidFill>
                <a:latin typeface="Calibri"/>
              </a:rPr>
              <a:t>cliente de Alloxentric.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60000" y="5400000"/>
            <a:ext cx="5256000" cy="115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>
                <a:solidFill>
                  <a:srgbClr val="3B5B63"/>
                </a:solidFill>
                <a:latin typeface="Calibri"/>
              </a:rPr>
              <a:t>Grupo 2 · Duoc UC · Sede Antonio Varas</a:t>
            </a:r>
          </a:p>
          <a:p>
            <a:pPr algn="l">
              <a:spcBef>
                <a:spcPts val="600"/>
              </a:spcBef>
            </a:pPr>
            <a:r>
              <a:rPr sz="1800" b="0">
                <a:solidFill>
                  <a:srgbClr val="3B5B63"/>
                </a:solidFill>
                <a:latin typeface="Calibri"/>
              </a:rPr>
              <a:t>Exequiel · Diana · Manuel · Cristian</a:t>
            </a:r>
          </a:p>
          <a:p>
            <a:pPr algn="l">
              <a:spcBef>
                <a:spcPts val="800"/>
              </a:spcBef>
            </a:pPr>
            <a:r>
              <a:rPr sz="1800" b="0">
                <a:solidFill>
                  <a:srgbClr val="3B5B63"/>
                </a:solidFill>
                <a:latin typeface="Calibri"/>
              </a:rPr>
              <a:t>Profesor: Arturo Guerra Castro</a:t>
            </a:r>
          </a:p>
        </p:txBody>
      </p:sp>
      <p:pic>
        <p:nvPicPr>
          <p:cNvPr id="22" name="Picture 21" descr="Alloxentric-logo-full-color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4000" y="540000"/>
            <a:ext cx="2365200" cy="5400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8874000" y="486000"/>
            <a:ext cx="18000" cy="648000"/>
          </a:xfrm>
          <a:prstGeom prst="rect">
            <a:avLst/>
          </a:prstGeom>
          <a:solidFill>
            <a:srgbClr val="9EB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duoc-uc-logo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06199" y="540000"/>
            <a:ext cx="2197800" cy="54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E7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94D9D5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94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EQUIPO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INTEGRANTES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Quiénes lo hacemos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60000" y="2664000"/>
            <a:ext cx="7549200" cy="7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4121999" y="2808000"/>
            <a:ext cx="503999" cy="503999"/>
          </a:xfrm>
          <a:prstGeom prst="ellipse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EA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24000" y="2815200"/>
            <a:ext cx="3096000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2200" b="1">
                <a:solidFill>
                  <a:srgbClr val="14303A"/>
                </a:solidFill>
                <a:latin typeface="Calibri"/>
              </a:rPr>
              <a:t>Exequiel Alvarado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24000" y="3139200"/>
            <a:ext cx="6397200" cy="270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689" b="0">
                <a:solidFill>
                  <a:srgbClr val="3B5B63"/>
                </a:solidFill>
                <a:latin typeface="Calibri"/>
              </a:rPr>
              <a:t>Desarrollo (backend, frontend, infraestructura)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60000" y="3564000"/>
            <a:ext cx="7549200" cy="7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4121999" y="3708000"/>
            <a:ext cx="503999" cy="503999"/>
          </a:xfrm>
          <a:prstGeom prst="ellipse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24000" y="3715200"/>
            <a:ext cx="3096000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2200" b="1">
                <a:solidFill>
                  <a:srgbClr val="14303A"/>
                </a:solidFill>
                <a:latin typeface="Calibri"/>
              </a:rPr>
              <a:t>Diana Guerrero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24000" y="4039200"/>
            <a:ext cx="6397200" cy="270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689" b="0">
                <a:solidFill>
                  <a:srgbClr val="3B5B63"/>
                </a:solidFill>
                <a:latin typeface="Calibri"/>
              </a:rPr>
              <a:t>Coordinación / Product Owner, planificación Jira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60000" y="4464000"/>
            <a:ext cx="7549200" cy="7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4121999" y="4608000"/>
            <a:ext cx="503999" cy="503999"/>
          </a:xfrm>
          <a:prstGeom prst="ellipse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MJ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24000" y="4615200"/>
            <a:ext cx="3096000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2200" b="1">
                <a:solidFill>
                  <a:srgbClr val="14303A"/>
                </a:solidFill>
                <a:latin typeface="Calibri"/>
              </a:rPr>
              <a:t>Manuel Jansen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24000" y="4939200"/>
            <a:ext cx="6397200" cy="270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689" b="0">
                <a:solidFill>
                  <a:srgbClr val="3B5B63"/>
                </a:solidFill>
                <a:latin typeface="Calibri"/>
              </a:rPr>
              <a:t>Diseño de interfaz y mockups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960000" y="5364000"/>
            <a:ext cx="7549200" cy="7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4121999" y="5508000"/>
            <a:ext cx="503999" cy="503999"/>
          </a:xfrm>
          <a:prstGeom prst="ellipse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CJ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24000" y="5515200"/>
            <a:ext cx="3096000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2200" b="1">
                <a:solidFill>
                  <a:srgbClr val="14303A"/>
                </a:solidFill>
                <a:latin typeface="Calibri"/>
              </a:rPr>
              <a:t>Cristian Jorquera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24000" y="5839200"/>
            <a:ext cx="6397200" cy="270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689" b="0">
                <a:solidFill>
                  <a:srgbClr val="3B5B63"/>
                </a:solidFill>
                <a:latin typeface="Calibri"/>
              </a:rPr>
              <a:t>Aseguramiento de calidad, historias de usuario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DDEAE2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DD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EL CASO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DESCRIPCIÓN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Qué problema resuelve</a:t>
            </a:r>
          </a:p>
        </p:txBody>
      </p:sp>
      <p:pic>
        <p:nvPicPr>
          <p:cNvPr id="19" name="Picture 18" descr="ventana-chat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56000" y="3816000"/>
            <a:ext cx="3024000" cy="2376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960000" y="2664000"/>
            <a:ext cx="4536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>
                <a:solidFill>
                  <a:srgbClr val="D95433"/>
                </a:solidFill>
                <a:latin typeface="Calibri"/>
              </a:rPr>
              <a:t>EL PROBLEMA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60000" y="3060000"/>
            <a:ext cx="4536000" cy="1512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14303A"/>
                </a:solidFill>
                <a:latin typeface="Calibri"/>
              </a:rPr>
              <a:t>•  Atender consultas con soporte humano por producto es caro y no escala.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14303A"/>
                </a:solidFill>
                <a:latin typeface="Calibri"/>
              </a:rPr>
              <a:t>•  Cada empresa tiene su documentación: hoy es un desarrollo a medida.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0000" y="4860000"/>
            <a:ext cx="4536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>
                <a:solidFill>
                  <a:srgbClr val="046B74"/>
                </a:solidFill>
                <a:latin typeface="Calibri"/>
              </a:rPr>
              <a:t>LA SOLUCIÓN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60000" y="5256000"/>
            <a:ext cx="4536000" cy="1152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15000"/>
              </a:lnSpc>
            </a:pPr>
            <a:r>
              <a:rPr sz="1639" b="0">
                <a:solidFill>
                  <a:srgbClr val="14303A"/>
                </a:solidFill>
                <a:latin typeface="Calibri"/>
              </a:rPr>
              <a:t>•  Una plataforma multiempresa: cada cliente carga su conocimiento.</a:t>
            </a:r>
          </a:p>
          <a:p>
            <a:pPr algn="l">
              <a:lnSpc>
                <a:spcPct val="115000"/>
              </a:lnSpc>
              <a:spcBef>
                <a:spcPts val="980"/>
              </a:spcBef>
            </a:pPr>
            <a:r>
              <a:rPr sz="1639" b="0">
                <a:solidFill>
                  <a:srgbClr val="14303A"/>
                </a:solidFill>
                <a:latin typeface="Calibri"/>
              </a:rPr>
              <a:t>•  Dos agentes por empresa y derivación a humano cuando hace falta.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F3A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C7E98B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C7E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OBJETIVOS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OBJETIVO GENERAL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Qué nos propusimos</a:t>
            </a:r>
          </a:p>
        </p:txBody>
      </p:sp>
      <p:pic>
        <p:nvPicPr>
          <p:cNvPr id="19" name="Picture 18" descr="empresa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84000" y="3816000"/>
            <a:ext cx="3024000" cy="23760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3960000" y="2592000"/>
            <a:ext cx="75492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960000" y="2613600"/>
            <a:ext cx="64800" cy="1252800"/>
          </a:xfrm>
          <a:prstGeom prst="rect">
            <a:avLst/>
          </a:prstGeom>
          <a:solidFill>
            <a:srgbClr val="6EA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266000" y="2808000"/>
            <a:ext cx="7009200" cy="900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14303A"/>
                </a:solidFill>
                <a:latin typeface="Calibri"/>
              </a:rPr>
              <a:t>Que cualquier empresa cliente de Alloxentric ofrezca a sus usuarios una primera línea de atención automatizada, con respaldo humano.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60000" y="4104000"/>
            <a:ext cx="5256000" cy="2232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15000"/>
              </a:lnSpc>
            </a:pPr>
            <a:r>
              <a:rPr sz="1939" b="0">
                <a:solidFill>
                  <a:srgbClr val="14303A"/>
                </a:solidFill>
                <a:latin typeface="Calibri"/>
              </a:rPr>
              <a:t>•  Administrar documentos, FAQ y agentes.</a:t>
            </a:r>
          </a:p>
          <a:p>
            <a:pPr algn="l">
              <a:lnSpc>
                <a:spcPct val="115000"/>
              </a:lnSpc>
              <a:spcBef>
                <a:spcPts val="1160"/>
              </a:spcBef>
            </a:pPr>
            <a:r>
              <a:rPr sz="1939" b="0">
                <a:solidFill>
                  <a:srgbClr val="14303A"/>
                </a:solidFill>
                <a:latin typeface="Calibri"/>
              </a:rPr>
              <a:t>•  Ingerir y vectorizar el conocimiento.</a:t>
            </a:r>
          </a:p>
          <a:p>
            <a:pPr algn="l">
              <a:lnSpc>
                <a:spcPct val="115000"/>
              </a:lnSpc>
              <a:spcBef>
                <a:spcPts val="1160"/>
              </a:spcBef>
            </a:pPr>
            <a:r>
              <a:rPr sz="1939" b="0">
                <a:solidFill>
                  <a:srgbClr val="14303A"/>
                </a:solidFill>
                <a:latin typeface="Calibri"/>
              </a:rPr>
              <a:t>•  Responder con un motor RAG y dos agentes.</a:t>
            </a:r>
          </a:p>
          <a:p>
            <a:pPr algn="l">
              <a:lnSpc>
                <a:spcPct val="115000"/>
              </a:lnSpc>
              <a:spcBef>
                <a:spcPts val="1160"/>
              </a:spcBef>
            </a:pPr>
            <a:r>
              <a:rPr sz="1939" b="0">
                <a:solidFill>
                  <a:srgbClr val="14303A"/>
                </a:solidFill>
                <a:latin typeface="Calibri"/>
              </a:rPr>
              <a:t>•  Derivar a un humano, o dejar ticket.</a:t>
            </a:r>
          </a:p>
          <a:p>
            <a:pPr algn="l">
              <a:lnSpc>
                <a:spcPct val="115000"/>
              </a:lnSpc>
              <a:spcBef>
                <a:spcPts val="1160"/>
              </a:spcBef>
            </a:pPr>
            <a:r>
              <a:rPr sz="1939" b="0">
                <a:solidFill>
                  <a:srgbClr val="14303A"/>
                </a:solidFill>
                <a:latin typeface="Calibri"/>
              </a:rPr>
              <a:t>•  Medir actividad y consumo por empresa.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E7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94D9D5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94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ALCANCE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ALCANCE Y LIMITACIONES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Qué entra y qué no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60000" y="2484000"/>
            <a:ext cx="36126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960000" y="2505600"/>
            <a:ext cx="64800" cy="3628800"/>
          </a:xfrm>
          <a:prstGeom prst="rect">
            <a:avLst/>
          </a:prstGeom>
          <a:solidFill>
            <a:srgbClr val="046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266000" y="2682000"/>
            <a:ext cx="3108600" cy="360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00" b="1">
                <a:solidFill>
                  <a:srgbClr val="046B74"/>
                </a:solidFill>
                <a:latin typeface="Calibri"/>
              </a:rPr>
              <a:t>DENTRO DE LA V1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66000" y="3114000"/>
            <a:ext cx="3108600" cy="284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15000"/>
              </a:lnSpc>
            </a:pPr>
            <a:r>
              <a:rPr sz="1730" b="0">
                <a:solidFill>
                  <a:srgbClr val="14303A"/>
                </a:solidFill>
                <a:latin typeface="Calibri"/>
              </a:rPr>
              <a:t>•  Administración multiempresa.</a:t>
            </a:r>
          </a:p>
          <a:p>
            <a:pPr algn="l">
              <a:lnSpc>
                <a:spcPct val="115000"/>
              </a:lnSpc>
              <a:spcBef>
                <a:spcPts val="1180"/>
              </a:spcBef>
            </a:pPr>
            <a:r>
              <a:rPr sz="1730" b="0">
                <a:solidFill>
                  <a:srgbClr val="14303A"/>
                </a:solidFill>
                <a:latin typeface="Calibri"/>
              </a:rPr>
              <a:t>•  Documentos, FAQ y sitio web.</a:t>
            </a:r>
          </a:p>
          <a:p>
            <a:pPr algn="l">
              <a:lnSpc>
                <a:spcPct val="115000"/>
              </a:lnSpc>
              <a:spcBef>
                <a:spcPts val="1180"/>
              </a:spcBef>
            </a:pPr>
            <a:r>
              <a:rPr sz="1730" b="0">
                <a:solidFill>
                  <a:srgbClr val="14303A"/>
                </a:solidFill>
                <a:latin typeface="Calibri"/>
              </a:rPr>
              <a:t>•  Chat web con dos agentes.</a:t>
            </a:r>
          </a:p>
          <a:p>
            <a:pPr algn="l">
              <a:lnSpc>
                <a:spcPct val="115000"/>
              </a:lnSpc>
              <a:spcBef>
                <a:spcPts val="1180"/>
              </a:spcBef>
            </a:pPr>
            <a:r>
              <a:rPr sz="1730" b="0">
                <a:solidFill>
                  <a:srgbClr val="14303A"/>
                </a:solidFill>
                <a:latin typeface="Calibri"/>
              </a:rPr>
              <a:t>•  Derivación en vivo o por ticket.</a:t>
            </a:r>
          </a:p>
          <a:p>
            <a:pPr algn="l">
              <a:lnSpc>
                <a:spcPct val="115000"/>
              </a:lnSpc>
              <a:spcBef>
                <a:spcPts val="1180"/>
              </a:spcBef>
            </a:pPr>
            <a:r>
              <a:rPr sz="1730" b="0">
                <a:solidFill>
                  <a:srgbClr val="14303A"/>
                </a:solidFill>
                <a:latin typeface="Calibri"/>
              </a:rPr>
              <a:t>•  Dashboards y tres idiomas.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96600" y="2484000"/>
            <a:ext cx="36126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896600" y="2505600"/>
            <a:ext cx="64800" cy="3628800"/>
          </a:xfrm>
          <a:prstGeom prst="rect">
            <a:avLst/>
          </a:prstGeom>
          <a:solidFill>
            <a:srgbClr val="D95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202600" y="2682000"/>
            <a:ext cx="3108600" cy="360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00" b="1">
                <a:solidFill>
                  <a:srgbClr val="D95433"/>
                </a:solidFill>
                <a:latin typeface="Calibri"/>
              </a:rPr>
              <a:t>FUERA DE LA V1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02600" y="3114000"/>
            <a:ext cx="3108600" cy="284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4303A"/>
                </a:solidFill>
                <a:latin typeface="Calibri"/>
              </a:rPr>
              <a:t>•  Canal WhatsApp: depende de un trámite con Meta.</a:t>
            </a:r>
          </a:p>
          <a:p>
            <a:pPr algn="l">
              <a:lnSpc>
                <a:spcPct val="115000"/>
              </a:lnSpc>
              <a:spcBef>
                <a:spcPts val="1300"/>
              </a:spcBef>
            </a:pPr>
            <a:r>
              <a:rPr sz="1900" b="0">
                <a:solidFill>
                  <a:srgbClr val="14303A"/>
                </a:solidFill>
                <a:latin typeface="Calibri"/>
              </a:rPr>
              <a:t>•  Telefonía, Telegram y redes sociales.</a:t>
            </a:r>
          </a:p>
          <a:p>
            <a:pPr algn="l">
              <a:lnSpc>
                <a:spcPct val="115000"/>
              </a:lnSpc>
              <a:spcBef>
                <a:spcPts val="1300"/>
              </a:spcBef>
            </a:pPr>
            <a:r>
              <a:rPr sz="1900" b="0">
                <a:solidFill>
                  <a:srgbClr val="14303A"/>
                </a:solidFill>
                <a:latin typeface="Calibri"/>
              </a:rPr>
              <a:t>•  Facturación automática por uso.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DDEAE2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DD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CRONOGRAMA · 1 DE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De la planificación al frontend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960000" y="2700000"/>
          <a:ext cx="7549182" cy="3165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14303A"/>
                          </a:solidFill>
                          <a:latin typeface="Calibri"/>
                        </a:rPr>
                        <a:t>Actividad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4303A"/>
                          </a:solidFill>
                          <a:latin typeface="Calibri"/>
                        </a:rPr>
                        <a:t>Fase 1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DCF0B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DCF0B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DCF0B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DCF0B4"/>
                    </a:solidFill>
                  </a:tcPr>
                </a:tc>
                <a:tc gridSpan="11"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4303A"/>
                          </a:solidFill>
                          <a:latin typeface="Calibri"/>
                        </a:rPr>
                        <a:t>Fase 2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4303A"/>
                          </a:solidFill>
                          <a:latin typeface="Calibri"/>
                        </a:rPr>
                        <a:t>Fase 3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9DAD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9DAD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9D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B5B63"/>
                          </a:solidFill>
                          <a:latin typeface="Calibri"/>
                        </a:rPr>
                        <a:t>Semana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65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Conformación de grupo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8FC6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08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Generación de documentos compartidos, Git y Jira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8FC6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65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Reunión con Alloxentric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8FC6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656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4303A"/>
                          </a:solidFill>
                          <a:latin typeface="Calibri"/>
                        </a:rPr>
                        <a:t>Presentación de planificación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8FC6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65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Desarrollo funcionalidad multi-tenant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65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Desarrollo base de conocimiento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65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Incorporación base de datos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65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Integración con frontend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3960000" y="5868000"/>
            <a:ext cx="7549200" cy="503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>
                <a:solidFill>
                  <a:srgbClr val="3B5B63"/>
                </a:solidFill>
                <a:latin typeface="Calibri"/>
              </a:rPr>
              <a:t>Fase 1, planificación: semanas 1 a 4.  Fase 2, desarrollo del proyecto: semanas 5 a 15.  Fase 3, presentación final: 16 a 18.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F3A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C7E98B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C7E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CRONOGRAMA · 2 DE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Del backend a la defensa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960000" y="2700000"/>
          <a:ext cx="7549182" cy="3050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14303A"/>
                          </a:solidFill>
                          <a:latin typeface="Calibri"/>
                        </a:rPr>
                        <a:t>Actividad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4303A"/>
                          </a:solidFill>
                          <a:latin typeface="Calibri"/>
                        </a:rPr>
                        <a:t>Fase 1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DCF0B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DCF0B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DCF0B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DCF0B4"/>
                    </a:solidFill>
                  </a:tcPr>
                </a:tc>
                <a:tc gridSpan="11"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4303A"/>
                          </a:solidFill>
                          <a:latin typeface="Calibri"/>
                        </a:rPr>
                        <a:t>Fase 2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4303A"/>
                          </a:solidFill>
                          <a:latin typeface="Calibri"/>
                        </a:rPr>
                        <a:t>Fase 3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9DAD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9DAD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9D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B5B63"/>
                          </a:solidFill>
                          <a:latin typeface="Calibri"/>
                        </a:rPr>
                        <a:t>Semana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Integración con backend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4303A"/>
                          </a:solidFill>
                          <a:latin typeface="Calibri"/>
                        </a:rPr>
                        <a:t>Primera entrega de avance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Ajustes de primera entrega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Integración con DeepSeek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Ajustes finales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4303A"/>
                          </a:solidFill>
                          <a:latin typeface="Calibri"/>
                        </a:rPr>
                        <a:t>Segunda entrega de avance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Ajustes segunda presentación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E884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4303A"/>
                          </a:solidFill>
                          <a:latin typeface="Calibri"/>
                        </a:rPr>
                        <a:t>Presentación Final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E884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E884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3960000" y="5868000"/>
            <a:ext cx="7549200" cy="503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>
                <a:solidFill>
                  <a:srgbClr val="3B5B63"/>
                </a:solidFill>
                <a:latin typeface="Calibri"/>
              </a:rPr>
              <a:t>Hitos:  primera entrega de avance, semana 11  ·  segunda entrega de avance, semana 15  ·  presentación final, semanas 17 y 18.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F3A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C7E98B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C7E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ARQUITECTURA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CÓMO ESTÁ CONSTRUIDO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Cuatro capas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60000" y="2124000"/>
            <a:ext cx="7549200" cy="64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sz="2070" b="0">
                <a:solidFill>
                  <a:srgbClr val="3B5B63"/>
                </a:solidFill>
                <a:latin typeface="Calibri"/>
              </a:rPr>
              <a:t>Todo lo que está bajo las interfaces corre en el contexto de una empresa.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60000" y="3384000"/>
            <a:ext cx="7549200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960000" y="3405600"/>
            <a:ext cx="64800" cy="568800"/>
          </a:xfrm>
          <a:prstGeom prst="rect">
            <a:avLst/>
          </a:prstGeom>
          <a:solidFill>
            <a:srgbClr val="6EA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266000" y="3513600"/>
            <a:ext cx="2376000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00" b="1">
                <a:solidFill>
                  <a:srgbClr val="6EA52C"/>
                </a:solidFill>
                <a:latin typeface="Calibri"/>
              </a:rPr>
              <a:t>INTERFACES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40000" y="3520800"/>
            <a:ext cx="4381199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610" b="0">
                <a:solidFill>
                  <a:srgbClr val="14303A"/>
                </a:solidFill>
                <a:latin typeface="Calibri"/>
              </a:rPr>
              <a:t>Chat web, administración y consola de agente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7608599" y="4010400"/>
            <a:ext cx="251999" cy="79200"/>
          </a:xfrm>
          <a:prstGeom prst="downArrow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3960000" y="4104000"/>
            <a:ext cx="7549200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960000" y="4125600"/>
            <a:ext cx="64800" cy="568800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266000" y="4233600"/>
            <a:ext cx="2376000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00" b="1">
                <a:solidFill>
                  <a:srgbClr val="046B74"/>
                </a:solidFill>
                <a:latin typeface="Calibri"/>
              </a:rPr>
              <a:t>APLICACIÓN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40000" y="4240800"/>
            <a:ext cx="4381199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670" b="0">
                <a:solidFill>
                  <a:srgbClr val="14303A"/>
                </a:solidFill>
                <a:latin typeface="Calibri"/>
              </a:rPr>
              <a:t>API FastAPI · acceso por rol y por empresa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7608599" y="4730400"/>
            <a:ext cx="251999" cy="79200"/>
          </a:xfrm>
          <a:prstGeom prst="downArrow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3960000" y="4824000"/>
            <a:ext cx="7549200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960000" y="4845600"/>
            <a:ext cx="64800" cy="568800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266000" y="4953600"/>
            <a:ext cx="2376000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00" b="1">
                <a:solidFill>
                  <a:srgbClr val="046B74"/>
                </a:solidFill>
                <a:latin typeface="Calibri"/>
              </a:rPr>
              <a:t>DOMINIO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40000" y="4960800"/>
            <a:ext cx="4381199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00" b="0">
                <a:solidFill>
                  <a:srgbClr val="14303A"/>
                </a:solidFill>
                <a:latin typeface="Calibri"/>
              </a:rPr>
              <a:t>Motor RAG: clasificador y dos agentes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7608599" y="5450400"/>
            <a:ext cx="251999" cy="79200"/>
          </a:xfrm>
          <a:prstGeom prst="downArrow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3960000" y="5544000"/>
            <a:ext cx="7549200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3960000" y="5565600"/>
            <a:ext cx="64800" cy="568800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4266000" y="5673600"/>
            <a:ext cx="2376000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00" b="1">
                <a:solidFill>
                  <a:srgbClr val="046B74"/>
                </a:solidFill>
                <a:latin typeface="Calibri"/>
              </a:rPr>
              <a:t>DATOS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40000" y="5680800"/>
            <a:ext cx="4381199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789" b="0">
                <a:solidFill>
                  <a:srgbClr val="14303A"/>
                </a:solidFill>
                <a:latin typeface="Calibri"/>
              </a:rPr>
              <a:t>PostgreSQL + pgvector · colas · DeepSeek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E7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94D9D5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94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511634" y="2686943"/>
            <a:ext cx="3024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 dirty="0">
                <a:solidFill>
                  <a:srgbClr val="14303A"/>
                </a:solidFill>
                <a:latin typeface="Calibri"/>
              </a:rPr>
              <a:t>ARQUITECTURA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ARQUITECTURA · COMPONENTES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Quién habla con quién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60000" y="2358000"/>
            <a:ext cx="37746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6EA52C"/>
                </a:solidFill>
                <a:latin typeface="Calibri"/>
              </a:rPr>
              <a:t>FRONTEND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34600" y="2365200"/>
            <a:ext cx="37746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500" b="0">
                <a:solidFill>
                  <a:srgbClr val="3B5B63"/>
                </a:solidFill>
                <a:latin typeface="Calibri"/>
              </a:rPr>
              <a:t>React 18 + Vite · un solo contenedor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60000" y="2556000"/>
            <a:ext cx="7549200" cy="9000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C3D6D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050000" y="2646000"/>
            <a:ext cx="2348400" cy="7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90000" rIns="108000" bIns="90000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071600" y="2667599"/>
            <a:ext cx="2305200" cy="50400"/>
          </a:xfrm>
          <a:prstGeom prst="rect">
            <a:avLst/>
          </a:prstGeom>
          <a:solidFill>
            <a:srgbClr val="6EA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4212000" y="2818800"/>
            <a:ext cx="20244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00" b="1">
                <a:solidFill>
                  <a:srgbClr val="14303A"/>
                </a:solidFill>
                <a:latin typeface="Calibri"/>
              </a:rPr>
              <a:t>Administración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12000" y="3142800"/>
            <a:ext cx="2024400" cy="21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360" b="0">
                <a:solidFill>
                  <a:srgbClr val="3B5B63"/>
                </a:solidFill>
                <a:latin typeface="Calibri"/>
              </a:rPr>
              <a:t>por empresa cliente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60400" y="2646000"/>
            <a:ext cx="2348400" cy="7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90000" rIns="108000" bIns="90000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581999" y="2667599"/>
            <a:ext cx="2305200" cy="50400"/>
          </a:xfrm>
          <a:prstGeom prst="rect">
            <a:avLst/>
          </a:prstGeom>
          <a:solidFill>
            <a:srgbClr val="6EA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722399" y="2818800"/>
            <a:ext cx="20244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00" b="1">
                <a:solidFill>
                  <a:srgbClr val="14303A"/>
                </a:solidFill>
                <a:latin typeface="Calibri"/>
              </a:rPr>
              <a:t>Consola de agente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22399" y="3142800"/>
            <a:ext cx="2024400" cy="21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360" b="0">
                <a:solidFill>
                  <a:srgbClr val="3B5B63"/>
                </a:solidFill>
                <a:latin typeface="Calibri"/>
              </a:rPr>
              <a:t>colas y transcripción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70800" y="2646000"/>
            <a:ext cx="2348400" cy="7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90000" rIns="108000" bIns="90000"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092400" y="2667599"/>
            <a:ext cx="2305200" cy="50400"/>
          </a:xfrm>
          <a:prstGeom prst="rect">
            <a:avLst/>
          </a:prstGeom>
          <a:solidFill>
            <a:srgbClr val="6EA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9232800" y="2818800"/>
            <a:ext cx="20244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00" b="1">
                <a:solidFill>
                  <a:srgbClr val="14303A"/>
                </a:solidFill>
                <a:latin typeface="Calibri"/>
              </a:rPr>
              <a:t>Chat + widget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32800" y="3142800"/>
            <a:ext cx="2024400" cy="21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360" b="0">
                <a:solidFill>
                  <a:srgbClr val="3B5B63"/>
                </a:solidFill>
                <a:latin typeface="Calibri"/>
              </a:rPr>
              <a:t>enlace o embebido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7572600" y="3519000"/>
            <a:ext cx="324000" cy="180000"/>
          </a:xfrm>
          <a:prstGeom prst="downArrow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986600" y="3486599"/>
            <a:ext cx="35226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3B5B63"/>
                </a:solidFill>
                <a:latin typeface="Calibri"/>
              </a:rPr>
              <a:t>REST + JWT  ·  eventos por WebSocket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60000" y="3761999"/>
            <a:ext cx="37746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046B74"/>
                </a:solidFill>
                <a:latin typeface="Calibri"/>
              </a:rPr>
              <a:t>BACKEND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34600" y="3769199"/>
            <a:ext cx="37746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500" b="0">
                <a:solidFill>
                  <a:srgbClr val="3B5B63"/>
                </a:solidFill>
                <a:latin typeface="Calibri"/>
              </a:rPr>
              <a:t>FastAPI · control por rol y empresa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960000" y="3960000"/>
            <a:ext cx="7549200" cy="9000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C3D6D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4050000" y="4050000"/>
            <a:ext cx="2348400" cy="7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90000" rIns="108000" bIns="90000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071600" y="4071600"/>
            <a:ext cx="2305200" cy="50400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4212000" y="4222800"/>
            <a:ext cx="20244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00" b="1">
                <a:solidFill>
                  <a:srgbClr val="14303A"/>
                </a:solidFill>
                <a:latin typeface="Calibri"/>
              </a:rPr>
              <a:t>Motor RAG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12000" y="4546800"/>
            <a:ext cx="2024400" cy="21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360" b="0">
                <a:solidFill>
                  <a:srgbClr val="3B5B63"/>
                </a:solidFill>
                <a:latin typeface="Calibri"/>
              </a:rPr>
              <a:t>clasificador y agentes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60400" y="4050000"/>
            <a:ext cx="2348400" cy="7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90000" rIns="108000" bIns="90000"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581999" y="4071600"/>
            <a:ext cx="2305200" cy="50400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6722399" y="4222800"/>
            <a:ext cx="20244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00" b="1">
                <a:solidFill>
                  <a:srgbClr val="14303A"/>
                </a:solidFill>
                <a:latin typeface="Calibri"/>
              </a:rPr>
              <a:t>Ingesta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722399" y="4546800"/>
            <a:ext cx="2024400" cy="21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360" b="0">
                <a:solidFill>
                  <a:srgbClr val="3B5B63"/>
                </a:solidFill>
                <a:latin typeface="Calibri"/>
              </a:rPr>
              <a:t>documentos, FAQ, sitio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070800" y="4050000"/>
            <a:ext cx="2348400" cy="7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90000" rIns="108000" bIns="90000"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9092400" y="4071600"/>
            <a:ext cx="2305200" cy="50400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9232800" y="4222800"/>
            <a:ext cx="20244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00" b="1">
                <a:solidFill>
                  <a:srgbClr val="14303A"/>
                </a:solidFill>
                <a:latin typeface="Calibri"/>
              </a:rPr>
              <a:t>Derivación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232800" y="4546800"/>
            <a:ext cx="2024400" cy="21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360" b="0">
                <a:solidFill>
                  <a:srgbClr val="3B5B63"/>
                </a:solidFill>
                <a:latin typeface="Calibri"/>
              </a:rPr>
              <a:t>en vivo o como ticket</a:t>
            </a:r>
          </a:p>
        </p:txBody>
      </p:sp>
      <p:sp>
        <p:nvSpPr>
          <p:cNvPr id="51" name="Down Arrow 50"/>
          <p:cNvSpPr/>
          <p:nvPr/>
        </p:nvSpPr>
        <p:spPr>
          <a:xfrm>
            <a:off x="7572600" y="4923000"/>
            <a:ext cx="324000" cy="180000"/>
          </a:xfrm>
          <a:prstGeom prst="downArrow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986600" y="4890600"/>
            <a:ext cx="35226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3B5B63"/>
                </a:solidFill>
                <a:latin typeface="Calibri"/>
              </a:rPr>
              <a:t>consulta y escribe, por empresa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60000" y="5166000"/>
            <a:ext cx="3666599" cy="88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90000" rIns="108000" bIns="90000"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3981600" y="5187600"/>
            <a:ext cx="3623400" cy="50400"/>
          </a:xfrm>
          <a:prstGeom prst="rect">
            <a:avLst/>
          </a:prstGeom>
          <a:solidFill>
            <a:srgbClr val="046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4140000" y="5299200"/>
            <a:ext cx="3306599" cy="19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500" b="1">
                <a:solidFill>
                  <a:srgbClr val="046B74"/>
                </a:solidFill>
                <a:latin typeface="Calibri"/>
              </a:rPr>
              <a:t>DATOS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40000" y="5500800"/>
            <a:ext cx="3306599" cy="2808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2000" b="1">
                <a:solidFill>
                  <a:srgbClr val="14303A"/>
                </a:solidFill>
                <a:latin typeface="Calibri"/>
              </a:rPr>
              <a:t>PostgreSQL + pgvector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40000" y="5767200"/>
            <a:ext cx="3306599" cy="2592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500" b="0">
                <a:solidFill>
                  <a:srgbClr val="3B5B63"/>
                </a:solidFill>
                <a:latin typeface="Calibri"/>
              </a:rPr>
              <a:t>16 tablas, todas por empresa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842599" y="5166000"/>
            <a:ext cx="3666599" cy="88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90000" rIns="108000" bIns="90000"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7864199" y="5187600"/>
            <a:ext cx="3623400" cy="50400"/>
          </a:xfrm>
          <a:prstGeom prst="rect">
            <a:avLst/>
          </a:prstGeom>
          <a:solidFill>
            <a:srgbClr val="3B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8022599" y="5299200"/>
            <a:ext cx="3306599" cy="19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500" b="1">
                <a:solidFill>
                  <a:srgbClr val="3B5B63"/>
                </a:solidFill>
                <a:latin typeface="Calibri"/>
              </a:rPr>
              <a:t>SISTEMAS EXTERNOS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022599" y="5500800"/>
            <a:ext cx="3306599" cy="2808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2000" b="1">
                <a:solidFill>
                  <a:srgbClr val="14303A"/>
                </a:solidFill>
                <a:latin typeface="Calibri"/>
              </a:rPr>
              <a:t>DeepSeek · Embeddings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022599" y="5767200"/>
            <a:ext cx="3306599" cy="2592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450" b="0">
                <a:solidFill>
                  <a:srgbClr val="3B5B63"/>
                </a:solidFill>
                <a:latin typeface="Calibri"/>
              </a:rPr>
              <a:t>storage, secretos y clave por empresa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09</a:t>
            </a:r>
          </a:p>
        </p:txBody>
      </p:sp>
      <p:pic>
        <p:nvPicPr>
          <p:cNvPr id="65" name="Imagen 64">
            <a:extLst>
              <a:ext uri="{FF2B5EF4-FFF2-40B4-BE49-F238E27FC236}">
                <a16:creationId xmlns:a16="http://schemas.microsoft.com/office/drawing/2014/main" id="{3DECDE6A-9528-DEB0-A4BE-97CC5C5AA17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-31803" y="1273523"/>
            <a:ext cx="12226330" cy="50185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DDEAE2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DD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MÉTODO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METODOLOGÍA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Cómo trabajamos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60000" y="2124000"/>
            <a:ext cx="7549200" cy="64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3B5B63"/>
                </a:solidFill>
                <a:latin typeface="Calibri"/>
              </a:rPr>
              <a:t>Scrum adaptado a un equipo con un solo desarrollador.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60000" y="3168000"/>
            <a:ext cx="3612600" cy="29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960000" y="3189600"/>
            <a:ext cx="64800" cy="2908800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266000" y="3366000"/>
            <a:ext cx="3108600" cy="360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00" b="1">
                <a:solidFill>
                  <a:srgbClr val="049A95"/>
                </a:solidFill>
                <a:latin typeface="Calibri"/>
              </a:rPr>
              <a:t>RITMO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66000" y="3798000"/>
            <a:ext cx="3108600" cy="21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15000"/>
              </a:lnSpc>
            </a:pPr>
            <a:r>
              <a:rPr sz="1730" b="0">
                <a:solidFill>
                  <a:srgbClr val="14303A"/>
                </a:solidFill>
                <a:latin typeface="Calibri"/>
              </a:rPr>
              <a:t>•  Sprints de dos semanas.</a:t>
            </a:r>
          </a:p>
          <a:p>
            <a:pPr algn="l">
              <a:lnSpc>
                <a:spcPct val="115000"/>
              </a:lnSpc>
              <a:spcBef>
                <a:spcPts val="1270"/>
              </a:spcBef>
            </a:pPr>
            <a:r>
              <a:rPr sz="1730" b="0">
                <a:solidFill>
                  <a:srgbClr val="14303A"/>
                </a:solidFill>
                <a:latin typeface="Calibri"/>
              </a:rPr>
              <a:t>•  Daily asíncrona por escrito.</a:t>
            </a:r>
          </a:p>
          <a:p>
            <a:pPr algn="l">
              <a:lnSpc>
                <a:spcPct val="115000"/>
              </a:lnSpc>
              <a:spcBef>
                <a:spcPts val="1270"/>
              </a:spcBef>
            </a:pPr>
            <a:r>
              <a:rPr sz="1730" b="0">
                <a:solidFill>
                  <a:srgbClr val="14303A"/>
                </a:solidFill>
                <a:latin typeface="Calibri"/>
              </a:rPr>
              <a:t>•  Review con demo sobre la app desplegada.</a:t>
            </a:r>
          </a:p>
          <a:p>
            <a:pPr algn="l">
              <a:lnSpc>
                <a:spcPct val="115000"/>
              </a:lnSpc>
              <a:spcBef>
                <a:spcPts val="1270"/>
              </a:spcBef>
            </a:pPr>
            <a:r>
              <a:rPr sz="1730" b="0">
                <a:solidFill>
                  <a:srgbClr val="14303A"/>
                </a:solidFill>
                <a:latin typeface="Calibri"/>
              </a:rPr>
              <a:t>•  Retrospectiva al cierre.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96600" y="3168000"/>
            <a:ext cx="3612600" cy="29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896600" y="3189600"/>
            <a:ext cx="64800" cy="2908800"/>
          </a:xfrm>
          <a:prstGeom prst="rect">
            <a:avLst/>
          </a:prstGeom>
          <a:solidFill>
            <a:srgbClr val="6EA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8202600" y="3366000"/>
            <a:ext cx="3108600" cy="360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00" b="1">
                <a:solidFill>
                  <a:srgbClr val="6EA52C"/>
                </a:solidFill>
                <a:latin typeface="Calibri"/>
              </a:rPr>
              <a:t>CALIDAD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02600" y="3798000"/>
            <a:ext cx="3108600" cy="21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15000"/>
              </a:lnSpc>
            </a:pPr>
            <a:r>
              <a:rPr sz="1670" b="0">
                <a:solidFill>
                  <a:srgbClr val="14303A"/>
                </a:solidFill>
                <a:latin typeface="Calibri"/>
              </a:rPr>
              <a:t>•  ruff y pytest en cada push.</a:t>
            </a:r>
          </a:p>
          <a:p>
            <a:pPr algn="l">
              <a:lnSpc>
                <a:spcPct val="115000"/>
              </a:lnSpc>
              <a:spcBef>
                <a:spcPts val="1230"/>
              </a:spcBef>
            </a:pPr>
            <a:r>
              <a:rPr sz="1670" b="0">
                <a:solidFill>
                  <a:srgbClr val="14303A"/>
                </a:solidFill>
                <a:latin typeface="Calibri"/>
              </a:rPr>
              <a:t>•  Prueba de aislamiento entre empresas.</a:t>
            </a:r>
          </a:p>
          <a:p>
            <a:pPr algn="l">
              <a:lnSpc>
                <a:spcPct val="115000"/>
              </a:lnSpc>
              <a:spcBef>
                <a:spcPts val="1230"/>
              </a:spcBef>
            </a:pPr>
            <a:r>
              <a:rPr sz="1670" b="0">
                <a:solidFill>
                  <a:srgbClr val="14303A"/>
                </a:solidFill>
                <a:latin typeface="Calibri"/>
              </a:rPr>
              <a:t>•  Preguntas de prueba por cliente.</a:t>
            </a:r>
          </a:p>
          <a:p>
            <a:pPr algn="l">
              <a:lnSpc>
                <a:spcPct val="115000"/>
              </a:lnSpc>
              <a:spcBef>
                <a:spcPts val="1230"/>
              </a:spcBef>
            </a:pPr>
            <a:r>
              <a:rPr sz="1670" b="0">
                <a:solidFill>
                  <a:srgbClr val="14303A"/>
                </a:solidFill>
                <a:latin typeface="Calibri"/>
              </a:rPr>
              <a:t>•  Un ADR corto por decisión.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F3A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C7E98B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C7E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MODELO DE DATOS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16 tablas, un solo hilo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60000" y="2124000"/>
            <a:ext cx="7549200" cy="64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sz="2070" b="0">
                <a:solidFill>
                  <a:srgbClr val="3B5B63"/>
                </a:solidFill>
                <a:latin typeface="Calibri"/>
              </a:rPr>
              <a:t>Toda tabla lleva tenant_id: es lo que impide que una empresa vea los datos de otra.</a:t>
            </a:r>
          </a:p>
        </p:txBody>
      </p:sp>
      <p:pic>
        <p:nvPicPr>
          <p:cNvPr id="20" name="Picture 19" descr="ingesta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72000" y="3960000"/>
            <a:ext cx="2932363" cy="230400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3960000" y="3348000"/>
            <a:ext cx="5112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960000" y="3369600"/>
            <a:ext cx="64800" cy="586800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248000" y="3420000"/>
            <a:ext cx="4680000" cy="251999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700" b="1">
                <a:solidFill>
                  <a:srgbClr val="046B74"/>
                </a:solidFill>
                <a:latin typeface="Calibri"/>
              </a:rPr>
              <a:t>EMPRESAS Y ACCESO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48000" y="3679200"/>
            <a:ext cx="468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700" b="0">
                <a:solidFill>
                  <a:srgbClr val="14303A"/>
                </a:solidFill>
                <a:latin typeface="Calibri"/>
              </a:rPr>
              <a:t>tenants · users · refresh_tokens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60000" y="4060800"/>
            <a:ext cx="5112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960000" y="4082400"/>
            <a:ext cx="64800" cy="586800"/>
          </a:xfrm>
          <a:prstGeom prst="rect">
            <a:avLst/>
          </a:prstGeom>
          <a:solidFill>
            <a:srgbClr val="6EA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248000" y="4132800"/>
            <a:ext cx="4680000" cy="251999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700" b="1">
                <a:solidFill>
                  <a:srgbClr val="046B74"/>
                </a:solidFill>
                <a:latin typeface="Calibri"/>
              </a:rPr>
              <a:t>CONOCIMIENTO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48000" y="4392000"/>
            <a:ext cx="468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700" b="0">
                <a:solidFill>
                  <a:srgbClr val="14303A"/>
                </a:solidFill>
                <a:latin typeface="Calibri"/>
              </a:rPr>
              <a:t>documents · chunks · faqs · website_scans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960000" y="4773600"/>
            <a:ext cx="5112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960000" y="4795200"/>
            <a:ext cx="64800" cy="586800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4248000" y="4845600"/>
            <a:ext cx="4680000" cy="251999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700" b="1">
                <a:solidFill>
                  <a:srgbClr val="046B74"/>
                </a:solidFill>
                <a:latin typeface="Calibri"/>
              </a:rPr>
              <a:t>CONVERSACIÓN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48000" y="5104800"/>
            <a:ext cx="468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700" b="0">
                <a:solidFill>
                  <a:srgbClr val="14303A"/>
                </a:solidFill>
                <a:latin typeface="Calibri"/>
              </a:rPr>
              <a:t>bot_agents · conversations · messages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960000" y="5486400"/>
            <a:ext cx="5112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960000" y="5508000"/>
            <a:ext cx="64800" cy="586800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4248000" y="5558400"/>
            <a:ext cx="4680000" cy="251999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700" b="1">
                <a:solidFill>
                  <a:srgbClr val="046B74"/>
                </a:solidFill>
                <a:latin typeface="Calibri"/>
              </a:rPr>
              <a:t>ATENCIÓN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48000" y="5817600"/>
            <a:ext cx="468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700" b="0">
                <a:solidFill>
                  <a:srgbClr val="14303A"/>
                </a:solidFill>
                <a:latin typeface="Calibri"/>
              </a:rPr>
              <a:t>tickets · usage_events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E7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94D9D5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94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STACK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TECNOLOGÍAS UTILIZADAS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Con qué está hecho</a:t>
            </a:r>
          </a:p>
        </p:txBody>
      </p:sp>
      <p:pic>
        <p:nvPicPr>
          <p:cNvPr id="19" name="Picture 18" descr="metrica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00000" y="3888000"/>
            <a:ext cx="2932363" cy="23040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3960000" y="2592000"/>
            <a:ext cx="5112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960000" y="2613600"/>
            <a:ext cx="64800" cy="496799"/>
          </a:xfrm>
          <a:prstGeom prst="rect">
            <a:avLst/>
          </a:prstGeom>
          <a:solidFill>
            <a:srgbClr val="6EA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266000" y="2736000"/>
            <a:ext cx="216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800" b="0">
                <a:solidFill>
                  <a:srgbClr val="3B5B63"/>
                </a:solidFill>
                <a:latin typeface="Calibri"/>
              </a:rPr>
              <a:t>Frontend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80000" y="2721600"/>
            <a:ext cx="24120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39" b="1">
                <a:solidFill>
                  <a:srgbClr val="14303A"/>
                </a:solidFill>
                <a:latin typeface="Calibri"/>
              </a:rPr>
              <a:t>React 18 + Vite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60000" y="3211200"/>
            <a:ext cx="5112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960000" y="3232800"/>
            <a:ext cx="64800" cy="496799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266000" y="3355200"/>
            <a:ext cx="216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800" b="0">
                <a:solidFill>
                  <a:srgbClr val="3B5B63"/>
                </a:solidFill>
                <a:latin typeface="Calibri"/>
              </a:rPr>
              <a:t>Backend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80000" y="3340800"/>
            <a:ext cx="24120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39" b="1">
                <a:solidFill>
                  <a:srgbClr val="14303A"/>
                </a:solidFill>
                <a:latin typeface="Calibri"/>
              </a:rPr>
              <a:t>Python + FastAPI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60000" y="3830400"/>
            <a:ext cx="5112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960000" y="3852000"/>
            <a:ext cx="64800" cy="496799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4266000" y="3974400"/>
            <a:ext cx="216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800" b="0">
                <a:solidFill>
                  <a:srgbClr val="3B5B63"/>
                </a:solidFill>
                <a:latin typeface="Calibri"/>
              </a:rPr>
              <a:t>Base de datos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80000" y="3960000"/>
            <a:ext cx="24120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880" b="1">
                <a:solidFill>
                  <a:srgbClr val="14303A"/>
                </a:solidFill>
                <a:latin typeface="Calibri"/>
              </a:rPr>
              <a:t>PostgreSQL + pgvector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60000" y="4449600"/>
            <a:ext cx="5112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960000" y="4471200"/>
            <a:ext cx="64800" cy="496799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266000" y="4593600"/>
            <a:ext cx="216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800" b="0">
                <a:solidFill>
                  <a:srgbClr val="3B5B63"/>
                </a:solidFill>
                <a:latin typeface="Calibri"/>
              </a:rPr>
              <a:t>Modelo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80000" y="4579200"/>
            <a:ext cx="24120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39" b="1">
                <a:solidFill>
                  <a:srgbClr val="14303A"/>
                </a:solidFill>
                <a:latin typeface="Calibri"/>
              </a:rPr>
              <a:t>DeepSeek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60000" y="5068800"/>
            <a:ext cx="5112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960000" y="5090400"/>
            <a:ext cx="64800" cy="496799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4266000" y="5212800"/>
            <a:ext cx="216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800" b="0">
                <a:solidFill>
                  <a:srgbClr val="3B5B63"/>
                </a:solidFill>
                <a:latin typeface="Calibri"/>
              </a:rPr>
              <a:t>Colas y tiempo real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80000" y="5198400"/>
            <a:ext cx="24120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39" b="1">
                <a:solidFill>
                  <a:srgbClr val="14303A"/>
                </a:solidFill>
                <a:latin typeface="Calibri"/>
              </a:rPr>
              <a:t>arq sobre Redis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60000" y="5688000"/>
            <a:ext cx="5112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3960000" y="5709600"/>
            <a:ext cx="64800" cy="496799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4266000" y="5832000"/>
            <a:ext cx="216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800" b="0">
                <a:solidFill>
                  <a:srgbClr val="3B5B63"/>
                </a:solidFill>
                <a:latin typeface="Calibri"/>
              </a:rPr>
              <a:t>Despliegue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80000" y="5817600"/>
            <a:ext cx="24120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39" b="1">
                <a:solidFill>
                  <a:srgbClr val="14303A"/>
                </a:solidFill>
                <a:latin typeface="Calibri"/>
              </a:rPr>
              <a:t>Vercel + Docker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DDEAE2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DD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4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5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DEMO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PROTOTIPO V11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Rediseño de wireframe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60000" y="2124000"/>
            <a:ext cx="7549200" cy="360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2000" b="0">
                <a:solidFill>
                  <a:srgbClr val="3B5B63"/>
                </a:solidFill>
                <a:latin typeface="Calibri"/>
              </a:rPr>
              <a:t>1 min 53 s por las nueve pantallas, componente a componente.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60000" y="2502000"/>
            <a:ext cx="6803999" cy="39374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pic>
        <p:nvPicPr>
          <p:cNvPr id="21" name="Chatbot-Soporte-Recorrido-ppt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4086000" y="2628000"/>
            <a:ext cx="6552000" cy="368549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1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F3A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C7E98B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C7E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GRACIAS</a:t>
            </a:r>
          </a:p>
        </p:txBody>
      </p:sp>
      <p:pic>
        <p:nvPicPr>
          <p:cNvPr id="17" name="Picture 16" descr="agent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80000" y="3311999"/>
            <a:ext cx="3665454" cy="2880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3960000" y="1584000"/>
            <a:ext cx="1080000" cy="72000"/>
          </a:xfrm>
          <a:prstGeom prst="rect">
            <a:avLst/>
          </a:prstGeom>
          <a:solidFill>
            <a:srgbClr val="6EA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960000" y="1728000"/>
            <a:ext cx="4752000" cy="273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4200" b="1">
                <a:solidFill>
                  <a:srgbClr val="14303A"/>
                </a:solidFill>
                <a:latin typeface="Calibri"/>
              </a:rPr>
              <a:t>Una primera línea</a:t>
            </a:r>
          </a:p>
          <a:p>
            <a:pPr algn="l">
              <a:lnSpc>
                <a:spcPct val="104000"/>
              </a:lnSpc>
            </a:pPr>
            <a:r>
              <a:rPr sz="4200" b="1">
                <a:solidFill>
                  <a:srgbClr val="14303A"/>
                </a:solidFill>
                <a:latin typeface="Calibri"/>
              </a:rPr>
              <a:t>de atención que</a:t>
            </a:r>
          </a:p>
          <a:p>
            <a:pPr algn="l">
              <a:lnSpc>
                <a:spcPct val="104000"/>
              </a:lnSpc>
            </a:pPr>
            <a:r>
              <a:rPr sz="4200" b="1">
                <a:solidFill>
                  <a:srgbClr val="14303A"/>
                </a:solidFill>
                <a:latin typeface="Calibri"/>
              </a:rPr>
              <a:t>no se construye</a:t>
            </a:r>
          </a:p>
          <a:p>
            <a:pPr algn="l">
              <a:lnSpc>
                <a:spcPct val="104000"/>
              </a:lnSpc>
            </a:pPr>
            <a:r>
              <a:rPr sz="4200" b="1">
                <a:solidFill>
                  <a:srgbClr val="046B74"/>
                </a:solidFill>
                <a:latin typeface="Calibri"/>
              </a:rPr>
              <a:t>dos veces.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0000" y="4824000"/>
            <a:ext cx="4536000" cy="10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>
                <a:solidFill>
                  <a:srgbClr val="3B5B63"/>
                </a:solidFill>
                <a:latin typeface="Calibri"/>
              </a:rPr>
              <a:t>Clientes iniciales:</a:t>
            </a:r>
          </a:p>
          <a:p>
            <a:pPr algn="l">
              <a:spcBef>
                <a:spcPts val="400"/>
              </a:spcBef>
            </a:pPr>
            <a:r>
              <a:rPr sz="2000" b="1">
                <a:solidFill>
                  <a:srgbClr val="14303A"/>
                </a:solidFill>
                <a:latin typeface="Calibri"/>
              </a:rPr>
              <a:t>WellQ, Alloxentric, Directa y Dani27001</a:t>
            </a:r>
          </a:p>
          <a:p>
            <a:pPr algn="l">
              <a:spcBef>
                <a:spcPts val="1000"/>
              </a:spcBef>
            </a:pPr>
            <a:r>
              <a:rPr sz="1800" b="0">
                <a:solidFill>
                  <a:srgbClr val="3B5B63"/>
                </a:solidFill>
                <a:latin typeface="Calibri"/>
              </a:rPr>
              <a:t>Defensa: 4 de diciembre de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858</Words>
  <Application>Microsoft Office PowerPoint</Application>
  <PresentationFormat>Personalizado</PresentationFormat>
  <Paragraphs>230</Paragraphs>
  <Slides>14</Slides>
  <Notes>0</Notes>
  <HiddenSlides>0</HiddenSlides>
  <MMClips>1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EXEQUIEL SAMUEL ALVARADO NAVARRETE</cp:lastModifiedBy>
  <cp:revision>2</cp:revision>
  <dcterms:created xsi:type="dcterms:W3CDTF">2013-01-27T09:14:16Z</dcterms:created>
  <dcterms:modified xsi:type="dcterms:W3CDTF">2026-09-04T23:09:17Z</dcterms:modified>
  <cp:category/>
</cp:coreProperties>
</file>