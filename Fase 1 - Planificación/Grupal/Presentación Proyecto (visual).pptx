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microsoft.com/office/2007/relationships/media" Target="../media/media1.mp4"/><Relationship Id="rId15" Type="http://schemas.openxmlformats.org/officeDocument/2006/relationships/video" Target="../media/media1.mp4"/><Relationship Id="rId1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CAPSTONE</a:t>
            </a:r>
          </a:p>
        </p:txBody>
      </p:sp>
      <p:pic>
        <p:nvPicPr>
          <p:cNvPr id="17" name="Picture 16" descr="bo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2000" y="2808000"/>
            <a:ext cx="4398545" cy="345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12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0" y="1764000"/>
            <a:ext cx="7740000" cy="23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14303A"/>
                </a:solidFill>
                <a:latin typeface="Calibri"/>
              </a:rPr>
              <a:t>Chatbot de Soporte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46B74"/>
                </a:solidFill>
                <a:latin typeface="Calibri"/>
              </a:rPr>
              <a:t>Genérico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031999"/>
            <a:ext cx="432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Una plataforma de soporte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para todas las empresas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cliente de Alloxentric.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5400000"/>
            <a:ext cx="525600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Grupo 2 · Duoc UC · Sede Antonio Varas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Exequiel · Diana · Cristian · Manuel</a:t>
            </a:r>
          </a:p>
          <a:p>
            <a:pPr algn="l">
              <a:spcBef>
                <a:spcPts val="8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Profesor: Arturo Guerra Castro</a:t>
            </a:r>
          </a:p>
        </p:txBody>
      </p:sp>
      <p:pic>
        <p:nvPicPr>
          <p:cNvPr id="22" name="Picture 21" descr="Alloxentric-logo-full-colo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540000"/>
            <a:ext cx="2365200" cy="540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874000" y="486000"/>
            <a:ext cx="18000" cy="648000"/>
          </a:xfrm>
          <a:prstGeom prst="rect">
            <a:avLst/>
          </a:prstGeom>
          <a:solidFill>
            <a:srgbClr val="9E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uoc-uc-log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6199" y="540000"/>
            <a:ext cx="2197800" cy="54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INTEGRANTES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Quiénes lo hacemos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6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21999" y="28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4000" y="28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Exequiel Alvarado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24000" y="31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Desarrollo (backend, frontend, infraestructura)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35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21999" y="37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24000" y="37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Diana Guerrero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4000" y="40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Coordinación / Product Owner, planificación Jira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60000" y="44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21999" y="46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CJ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4000" y="46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Cristian Jorquera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24000" y="49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Aseguramiento de calidad, historias de usuario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60000" y="53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21999" y="55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MJ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24000" y="55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Manuel Jansen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24000" y="58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Diseño de interfaz y mockups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DESCRIPCIÓN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problema resuelve</a:t>
            </a:r>
          </a:p>
        </p:txBody>
      </p:sp>
      <p:pic>
        <p:nvPicPr>
          <p:cNvPr id="19" name="Picture 18" descr="ventana-cha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56000" y="3816000"/>
            <a:ext cx="3024000" cy="237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60000" y="2664000"/>
            <a:ext cx="453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EL PROBLEMA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0" y="3060000"/>
            <a:ext cx="4536000" cy="151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4303A"/>
                </a:solidFill>
                <a:latin typeface="Calibri"/>
              </a:rPr>
              <a:t>•  Atender consultas con soporte humano por producto es caro y no escala.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14303A"/>
                </a:solidFill>
                <a:latin typeface="Calibri"/>
              </a:rPr>
              <a:t>•  Cada empresa tiene su documentación: hoy es un desarrollo a medida.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0" y="4860000"/>
            <a:ext cx="453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LA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5256000"/>
            <a:ext cx="4536000" cy="115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639" b="0">
                <a:solidFill>
                  <a:srgbClr val="14303A"/>
                </a:solidFill>
                <a:latin typeface="Calibri"/>
              </a:rPr>
              <a:t>•  Una plataforma multiempresa: cada cliente carga su conocimiento.</a:t>
            </a:r>
          </a:p>
          <a:p>
            <a:pPr algn="l">
              <a:lnSpc>
                <a:spcPct val="115000"/>
              </a:lnSpc>
              <a:spcBef>
                <a:spcPts val="980"/>
              </a:spcBef>
            </a:pPr>
            <a:r>
              <a:rPr sz="1639" b="0">
                <a:solidFill>
                  <a:srgbClr val="14303A"/>
                </a:solidFill>
                <a:latin typeface="Calibri"/>
              </a:rPr>
              <a:t>•  Dos agentes por empresa y derivación a humano cuando hace falta.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OBJETIVOS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OBJETIVO GENERAL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nos propusimos</a:t>
            </a:r>
          </a:p>
        </p:txBody>
      </p:sp>
      <p:pic>
        <p:nvPicPr>
          <p:cNvPr id="19" name="Picture 18" descr="empres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84000" y="3816000"/>
            <a:ext cx="3024000" cy="2376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75492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1252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66000" y="2808000"/>
            <a:ext cx="7009200" cy="90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Que cualquier empresa cliente de Alloxentric ofrezca a sus usuarios una primera línea de atención automatizada, con respaldo humano.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4104000"/>
            <a:ext cx="5256000" cy="223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939" b="0">
                <a:solidFill>
                  <a:srgbClr val="14303A"/>
                </a:solidFill>
                <a:latin typeface="Calibri"/>
              </a:rPr>
              <a:t>•  Administrar documentos, FAQ y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Ingerir y vectorizar el conocimiento.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Responder con un motor RAG y dos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Derivar a un humano, o dejar ticket.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Medir actividad y consumo por empresa.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ALCANCE Y LIMITACIONES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entra y qué 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0" y="2505600"/>
            <a:ext cx="64800" cy="3628800"/>
          </a:xfrm>
          <a:prstGeom prst="rect">
            <a:avLst/>
          </a:prstGeom>
          <a:solidFill>
            <a:srgbClr val="046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660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DENTRO DE LA V1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60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Administración multiempresa.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Documentos, FAQ y sitio web.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Chat web con dos agentes.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Derivación en vivo o por ticket.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Dashboards y tres idiomas.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966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96600" y="2505600"/>
            <a:ext cx="64800" cy="3628800"/>
          </a:xfrm>
          <a:prstGeom prst="rect">
            <a:avLst/>
          </a:prstGeom>
          <a:solidFill>
            <a:srgbClr val="D95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026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FUERA DE LA V1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026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•  Canal WhatsApp: depende de un trámite con Meta.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Telefonía, Telegram y redes sociales.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Facturación automática por uso.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1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Seis sprints de dos semanas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200" cy="279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Definición y planificación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Arquitectura y wireframes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Despliegue, CI/CD y alta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Ingesta del conocimiento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Indexación vectorial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Clasificador y agentes RAG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Definición y primera mitad del desarrollo. Cada sprint entrega una parte funcional, no un documento.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2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Del chat web a la defensa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200" cy="279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  <a:gridCol w="2754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Chat web: enlace y widget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Derivación humana y consola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Dashboards y consumo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Preguntas de prueba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Documentación y manual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6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Informe final y defensa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430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Avance 16 oct (semana 10)  ·  informe final 20 nov (semana 15)  ·  defensa 4 dic de 2026 (semana 18).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CÓMO ESTÁ CONSTRUIDO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Cuatro capas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Todo lo que está bajo las interfaces corre en el contexto de una empresa.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338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0000" y="3405600"/>
            <a:ext cx="64800" cy="56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66000" y="351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INTERFACES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40000" y="352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10" b="0">
                <a:solidFill>
                  <a:srgbClr val="14303A"/>
                </a:solidFill>
                <a:latin typeface="Calibri"/>
              </a:rPr>
              <a:t>Chat web, administración y consola de agente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608599" y="401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60000" y="410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60000" y="412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66000" y="423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APLICACIÓN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40000" y="424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70" b="0">
                <a:solidFill>
                  <a:srgbClr val="14303A"/>
                </a:solidFill>
                <a:latin typeface="Calibri"/>
              </a:rPr>
              <a:t>API FastAPI · acceso por rol y por empresa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08599" y="473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960000" y="482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60000" y="484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66000" y="495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DOMINIO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0" y="496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0">
                <a:solidFill>
                  <a:srgbClr val="14303A"/>
                </a:solidFill>
                <a:latin typeface="Calibri"/>
              </a:rPr>
              <a:t>Motor RAG: clasificador y dos agentes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608599" y="545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60000" y="554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60000" y="556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66000" y="567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40000" y="568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89" b="0">
                <a:solidFill>
                  <a:srgbClr val="14303A"/>
                </a:solidFill>
                <a:latin typeface="Calibri"/>
              </a:rPr>
              <a:t>PostgreSQL + pgvector · colas · DeepSeek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MÉTODO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METODOLOGÍA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Cómo trabajamos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3B5B63"/>
                </a:solidFill>
                <a:latin typeface="Calibri"/>
              </a:rPr>
              <a:t>Scrum adaptado a un equipo con un solo desarrollador.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0000" y="3189600"/>
            <a:ext cx="64800" cy="290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660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049A95"/>
                </a:solidFill>
                <a:latin typeface="Calibri"/>
              </a:rPr>
              <a:t>RITMO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60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Sprints de dos semanas.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Daily asíncrona por escrito.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Review con demo sobre la app desplegada.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Retrospectiva al cierre.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966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96600" y="3189600"/>
            <a:ext cx="64800" cy="290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26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CALIDAD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026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670" b="0">
                <a:solidFill>
                  <a:srgbClr val="14303A"/>
                </a:solidFill>
                <a:latin typeface="Calibri"/>
              </a:rPr>
              <a:t>•  ruff y pytest en cada push.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Prueba de aislamiento entre empresas.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Preguntas de prueba por cliente.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Un ADR corto por decisión.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MODELO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16 tablas, un solo hilo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Toda tabla lleva tenant_id: es lo que impide que una empresa vea los datos de otra.</a:t>
            </a:r>
          </a:p>
        </p:txBody>
      </p:sp>
      <p:pic>
        <p:nvPicPr>
          <p:cNvPr id="20" name="Picture 19" descr="ingest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2000" y="3960000"/>
            <a:ext cx="2932363" cy="2304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960000" y="33480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60000" y="33696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48000" y="34200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EMPRESAS Y ACCESO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8000" y="36792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tenants · users · refresh_tokens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0000" y="40608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60000" y="4082400"/>
            <a:ext cx="64800" cy="586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48000" y="41328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CONOCIMIENTO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48000" y="43920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documents · chunks · faqs · website_scans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60000" y="47736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60000" y="47952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48000" y="48456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CONVERSACIÓN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48000" y="51048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bot_agents · conversations · messages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60000" y="54864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0000" y="55080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48000" y="55584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ATENCIÓN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48000" y="58176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tickets · usage_events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TECNOLOGÍAS UTILIZADAS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Con qué está hecho</a:t>
            </a:r>
          </a:p>
        </p:txBody>
      </p:sp>
      <p:pic>
        <p:nvPicPr>
          <p:cNvPr id="19" name="Picture 18" descr="metric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00000" y="3888000"/>
            <a:ext cx="2932363" cy="2304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496799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66000" y="2736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Frontend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0000" y="2721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React 18 + 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60000" y="32112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60000" y="32328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66000" y="33552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Backend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80000" y="33408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Python + FastAPI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0000" y="38304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60000" y="38520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66000" y="39744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Base de datos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80000" y="39600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80" b="1">
                <a:solidFill>
                  <a:srgbClr val="14303A"/>
                </a:solidFill>
                <a:latin typeface="Calibri"/>
              </a:rPr>
              <a:t>PostgreSQL + pgvector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60000" y="44496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60000" y="44712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66000" y="45936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Modelo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80000" y="45792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DeepSeek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60000" y="50688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60000" y="50904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66000" y="52128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Colas y tiempo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0000" y="51984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arq sobre Redis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60000" y="5688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60000" y="57096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66000" y="5832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Despliegue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0000" y="5817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Vercel + 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PROTOTIPO V11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Rediseño de wireframe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000" b="0">
                <a:solidFill>
                  <a:srgbClr val="3B5B63"/>
                </a:solidFill>
                <a:latin typeface="Calibri"/>
              </a:rPr>
              <a:t>1 min 53 s por las nueve pantallas, componente a componente.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2502000"/>
            <a:ext cx="6803999" cy="39374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44000" bIns="144000"/>
          <a:lstStyle/>
          <a:p>
            <a:pPr algn="ctr"/>
          </a:p>
        </p:txBody>
      </p:sp>
      <p:pic>
        <p:nvPicPr>
          <p:cNvPr id="21" name="Chatbot-Soporte-Recorrido-ppt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4086000" y="2628000"/>
            <a:ext cx="6552000" cy="36854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GRACIAS</a:t>
            </a:r>
          </a:p>
        </p:txBody>
      </p:sp>
      <p:pic>
        <p:nvPicPr>
          <p:cNvPr id="17" name="Picture 16" descr="agen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0000" y="3311999"/>
            <a:ext cx="3665454" cy="288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84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0" y="1728000"/>
            <a:ext cx="4752000" cy="27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Una primera línea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de atención que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no se construye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046B74"/>
                </a:solidFill>
                <a:latin typeface="Calibri"/>
              </a:rPr>
              <a:t>dos veces.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824000"/>
            <a:ext cx="4536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3B5B63"/>
                </a:solidFill>
                <a:latin typeface="Calibri"/>
              </a:rPr>
              <a:t>Clientes iniciales:</a:t>
            </a:r>
          </a:p>
          <a:p>
            <a:pPr algn="l">
              <a:spcBef>
                <a:spcPts val="400"/>
              </a:spcBef>
            </a:pPr>
            <a:r>
              <a:rPr sz="2000" b="1">
                <a:solidFill>
                  <a:srgbClr val="14303A"/>
                </a:solidFill>
                <a:latin typeface="Calibri"/>
              </a:rPr>
              <a:t>WellQ, Alloxentric, Directa y Dani27001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Defensa: 4 de diciembre 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