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video" Target="../media/media1.mp4"/><Relationship Id="rId16" Type="http://schemas.openxmlformats.org/officeDocument/2006/relationships/image" Target="../media/image21.png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CAPSTONE</a:t>
            </a:r>
          </a:p>
        </p:txBody>
      </p:sp>
      <p:pic>
        <p:nvPicPr>
          <p:cNvPr id="17" name="Picture 16" descr="bo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2000" y="2808000"/>
            <a:ext cx="4398545" cy="345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12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60000" y="1764000"/>
            <a:ext cx="7740000" cy="23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>
                <a:solidFill>
                  <a:srgbClr val="14303A"/>
                </a:solidFill>
                <a:latin typeface="Calibri"/>
              </a:rPr>
              <a:t>Chatbot de Soporte</a:t>
            </a:r>
          </a:p>
          <a:p>
            <a:pPr algn="l">
              <a:lnSpc>
                <a:spcPct val="95000"/>
              </a:lnSpc>
            </a:pPr>
            <a:r>
              <a:rPr sz="6200" b="1">
                <a:solidFill>
                  <a:srgbClr val="046B74"/>
                </a:solidFill>
                <a:latin typeface="Calibri"/>
              </a:rPr>
              <a:t>Genérico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031999"/>
            <a:ext cx="4320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Una plataforma de soporte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para todas las empresas</a:t>
            </a:r>
          </a:p>
          <a:p>
            <a:pPr algn="l"/>
            <a:r>
              <a:rPr sz="2400" b="0">
                <a:solidFill>
                  <a:srgbClr val="3B5B63"/>
                </a:solidFill>
                <a:latin typeface="Calibri"/>
              </a:rPr>
              <a:t>cliente de Alloxentric.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5400000"/>
            <a:ext cx="5256000" cy="115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Grupo 2 · Duoc UC · Sede Antonio Varas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Exequiel · Diana · Manuel · Cristian</a:t>
            </a:r>
          </a:p>
          <a:p>
            <a:pPr algn="l">
              <a:spcBef>
                <a:spcPts val="8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Profesor: Arturo Guerra Castro</a:t>
            </a:r>
          </a:p>
        </p:txBody>
      </p:sp>
      <p:pic>
        <p:nvPicPr>
          <p:cNvPr id="22" name="Picture 21" descr="Alloxentric-logo-full-colo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540000"/>
            <a:ext cx="2365200" cy="540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874000" y="486000"/>
            <a:ext cx="18000" cy="648000"/>
          </a:xfrm>
          <a:prstGeom prst="rect">
            <a:avLst/>
          </a:prstGeom>
          <a:solidFill>
            <a:srgbClr val="9E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duoc-uc-log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6199" y="540000"/>
            <a:ext cx="2197800" cy="54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INTEGRANTES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Quiénes lo hacemos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6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121999" y="28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4000" y="28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Exequiel Alvarado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24000" y="31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Desarrollo (backend, frontend, infraestructura)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35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21999" y="37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24000" y="37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Diana Guerrero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4000" y="40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Coordinación / Product Owner, planificación Jira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60000" y="44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21999" y="46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MJ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4000" y="46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Manuel Jansen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24000" y="49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Diseño de interfaz y mockups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60000" y="53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121999" y="55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CJ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24000" y="55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200" b="1">
                <a:solidFill>
                  <a:srgbClr val="14303A"/>
                </a:solidFill>
                <a:latin typeface="Calibri"/>
              </a:rPr>
              <a:t>Cristian Jorquera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24000" y="58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89" b="0">
                <a:solidFill>
                  <a:srgbClr val="3B5B63"/>
                </a:solidFill>
                <a:latin typeface="Calibri"/>
              </a:rPr>
              <a:t>Aseguramiento de calidad, historias de usuario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DESCRIPCIÓN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problema resuelve</a:t>
            </a:r>
          </a:p>
        </p:txBody>
      </p:sp>
      <p:pic>
        <p:nvPicPr>
          <p:cNvPr id="19" name="Picture 18" descr="ventana-cha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56000" y="3816000"/>
            <a:ext cx="3024000" cy="237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60000" y="2664000"/>
            <a:ext cx="4536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EL PROBLEMA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0" y="3060000"/>
            <a:ext cx="4536000" cy="151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4303A"/>
                </a:solidFill>
                <a:latin typeface="Calibri"/>
              </a:rPr>
              <a:t>•  Atender consultas con soporte humano por producto es caro y no escala.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14303A"/>
                </a:solidFill>
                <a:latin typeface="Calibri"/>
              </a:rPr>
              <a:t>•  Cada empresa tiene su documentación: hoy es un desarrollo a medida.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0" y="4860000"/>
            <a:ext cx="4536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LA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5256000"/>
            <a:ext cx="4536000" cy="115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639" b="0">
                <a:solidFill>
                  <a:srgbClr val="14303A"/>
                </a:solidFill>
                <a:latin typeface="Calibri"/>
              </a:rPr>
              <a:t>•  Una plataforma multiempresa: cada cliente carga su conocimiento.</a:t>
            </a:r>
          </a:p>
          <a:p>
            <a:pPr algn="l">
              <a:lnSpc>
                <a:spcPct val="115000"/>
              </a:lnSpc>
              <a:spcBef>
                <a:spcPts val="980"/>
              </a:spcBef>
            </a:pPr>
            <a:r>
              <a:rPr sz="1639" b="0">
                <a:solidFill>
                  <a:srgbClr val="14303A"/>
                </a:solidFill>
                <a:latin typeface="Calibri"/>
              </a:rPr>
              <a:t>•  Dos agentes por empresa y derivación a humano cuando hace falta.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OBJETIVOS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OBJETIVO GENERAL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nos propusimos</a:t>
            </a:r>
          </a:p>
        </p:txBody>
      </p:sp>
      <p:pic>
        <p:nvPicPr>
          <p:cNvPr id="19" name="Picture 18" descr="empres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84000" y="3816000"/>
            <a:ext cx="3024000" cy="2376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75492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1252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2808000"/>
            <a:ext cx="7009200" cy="90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Que cualquier empresa cliente de Alloxentric ofrezca a sus usuarios una primera línea de atención automatizada, con respaldo humano.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0" y="4104000"/>
            <a:ext cx="5256000" cy="2232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939" b="0">
                <a:solidFill>
                  <a:srgbClr val="14303A"/>
                </a:solidFill>
                <a:latin typeface="Calibri"/>
              </a:rPr>
              <a:t>•  Administrar documentos, FAQ y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Ingerir y vectorizar el conocimiento.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Responder con un motor RAG y dos agentes.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Derivar a un humano, o dejar ticket.</a:t>
            </a:r>
          </a:p>
          <a:p>
            <a:pPr algn="l">
              <a:lnSpc>
                <a:spcPct val="115000"/>
              </a:lnSpc>
              <a:spcBef>
                <a:spcPts val="1160"/>
              </a:spcBef>
            </a:pPr>
            <a:r>
              <a:rPr sz="1939" b="0">
                <a:solidFill>
                  <a:srgbClr val="14303A"/>
                </a:solidFill>
                <a:latin typeface="Calibri"/>
              </a:rPr>
              <a:t>•  Medir actividad y consumo por empresa.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ALCANCE Y LIMITACIONES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Qué entra y qué 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960000" y="2505600"/>
            <a:ext cx="64800" cy="3628800"/>
          </a:xfrm>
          <a:prstGeom prst="rect">
            <a:avLst/>
          </a:prstGeom>
          <a:solidFill>
            <a:srgbClr val="046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2660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DENTRO DE LA V1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60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Administración multiempresa.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Documentos, FAQ y sitio web.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Chat web con dos agentes.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Derivación en vivo o por ticket.</a:t>
            </a:r>
          </a:p>
          <a:p>
            <a:pPr algn="l">
              <a:lnSpc>
                <a:spcPct val="115000"/>
              </a:lnSpc>
              <a:spcBef>
                <a:spcPts val="118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Dashboards y tres idiomas.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96600" y="2484000"/>
            <a:ext cx="36126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96600" y="2505600"/>
            <a:ext cx="64800" cy="3628800"/>
          </a:xfrm>
          <a:prstGeom prst="rect">
            <a:avLst/>
          </a:prstGeom>
          <a:solidFill>
            <a:srgbClr val="D95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02600" y="2682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D95433"/>
                </a:solidFill>
                <a:latin typeface="Calibri"/>
              </a:rPr>
              <a:t>FUERA DE LA V1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02600" y="3114000"/>
            <a:ext cx="3108600" cy="284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4303A"/>
                </a:solidFill>
                <a:latin typeface="Calibri"/>
              </a:rPr>
              <a:t>•  Canal WhatsApp: depende de un trámite con Meta.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Telefonía, Telegram y redes sociales.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</a:pPr>
            <a:r>
              <a:rPr sz="1900" b="0">
                <a:solidFill>
                  <a:srgbClr val="14303A"/>
                </a:solidFill>
                <a:latin typeface="Calibri"/>
              </a:rPr>
              <a:t>•  Facturación automática por uso.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1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De la planificación al frontend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182" cy="31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Conformación de grupo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08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Generación de documentos compartidos, Git y Jira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Reunión con Alloxentric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Presentación de planificación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8FC6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Desarrollo funcionalidad multi-tenant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Desarrollo base de conocimiento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Incorporación base de datos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5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frontend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Fase 1, planificación: semanas 1 a 4.  Fase 2, desarrollo del proyecto: semanas 5 a 15.  Fase 3, presentación final: 16 a 18.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CRONOGRAMA · 2 DE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Del backend a la defensa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960000" y="2700000"/>
          <a:ext cx="7549182" cy="3050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2139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4303A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DCF0B4"/>
                    </a:solidFill>
                  </a:tcPr>
                </a:tc>
                <a:tc gridSpan="1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CBEC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Fase 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9D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B5B63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B5B6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backend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Primera entrega de avance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de primera entrega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Integración con DeepSeek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finales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Segunda entrega de avance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35B3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303A"/>
                          </a:solidFill>
                          <a:latin typeface="Calibri"/>
                        </a:rPr>
                        <a:t>Ajustes segunda presentación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4303A"/>
                          </a:solidFill>
                          <a:latin typeface="Calibri"/>
                        </a:rPr>
                        <a:t>Presentación Final</a:t>
                      </a:r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8000" marR="18000" marT="14400" marB="14400" anchor="ctr">
                    <a:lnL w="6350" cap="flat" cmpd="sng" algn="ctr">
                      <a:solidFill>
                        <a:srgbClr val="C3D6D3"/>
                      </a:solidFill>
                    </a:lnL>
                    <a:lnR w="6350" cap="flat" cmpd="sng" algn="ctr">
                      <a:solidFill>
                        <a:srgbClr val="C3D6D3"/>
                      </a:solidFill>
                    </a:lnR>
                    <a:lnT w="6350" cap="flat" cmpd="sng" algn="ctr">
                      <a:solidFill>
                        <a:srgbClr val="C3D6D3"/>
                      </a:solidFill>
                    </a:lnT>
                    <a:lnB w="6350" cap="flat" cmpd="sng" algn="ctr">
                      <a:solidFill>
                        <a:srgbClr val="C3D6D3"/>
                      </a:solidFill>
                    </a:lnB>
                    <a:solidFill>
                      <a:srgbClr val="E884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960000" y="5868000"/>
            <a:ext cx="7549200" cy="503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Hitos:  primera entrega de avance, semana 11  ·  segunda entrega de avance, semana 15  ·  presentación final, semanas 17 y 18.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474861" y="2704944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>
                <a:solidFill>
                  <a:srgbClr val="14303A"/>
                </a:solidFill>
                <a:latin typeface="Calibri"/>
              </a:rP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CÓMO ESTÁ CONSTRUIDO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Cuatro capas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Todo lo que está bajo las interfaces corre en el contexto de una empresa.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0" y="338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3405600"/>
            <a:ext cx="64800" cy="56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351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INTERFACES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40000" y="352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10" b="0">
                <a:solidFill>
                  <a:srgbClr val="14303A"/>
                </a:solidFill>
                <a:latin typeface="Calibri"/>
              </a:rPr>
              <a:t>Chat web, administración y consola de agente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608599" y="401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960000" y="410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60000" y="412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66000" y="423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APLICACIÓN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40000" y="424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670" b="0">
                <a:solidFill>
                  <a:srgbClr val="14303A"/>
                </a:solidFill>
                <a:latin typeface="Calibri"/>
              </a:rPr>
              <a:t>API FastAPI · acceso por rol y por empresa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08599" y="473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960000" y="482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960000" y="484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66000" y="495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DOMINIO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0" y="496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0">
                <a:solidFill>
                  <a:srgbClr val="14303A"/>
                </a:solidFill>
                <a:latin typeface="Calibri"/>
              </a:rPr>
              <a:t>Motor RAG: clasificador y dos agentes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608599" y="5450400"/>
            <a:ext cx="251999" cy="792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960000" y="5544000"/>
            <a:ext cx="7549200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960000" y="5565600"/>
            <a:ext cx="64800" cy="56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266000" y="5673600"/>
            <a:ext cx="237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6B74"/>
                </a:solidFill>
                <a:latin typeface="Calibri"/>
              </a:rPr>
              <a:t>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40000" y="5680800"/>
            <a:ext cx="4381199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89" b="0">
                <a:solidFill>
                  <a:srgbClr val="14303A"/>
                </a:solidFill>
                <a:latin typeface="Calibri"/>
              </a:rPr>
              <a:t>PostgreSQL + pgvector · colas · DeepSeek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511634" y="2686943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>
                <a:solidFill>
                  <a:srgbClr val="14303A"/>
                </a:solidFill>
                <a:latin typeface="Calibri"/>
              </a:rPr>
              <a:t>ARQUITECTURA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ARQUITECTURA · COMPONENTES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Quién habla con quién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0" y="2358000"/>
            <a:ext cx="37746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6EA52C"/>
                </a:solidFill>
                <a:latin typeface="Calibri"/>
              </a:rP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600" y="2365200"/>
            <a:ext cx="3774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500" b="0">
                <a:solidFill>
                  <a:srgbClr val="3B5B63"/>
                </a:solidFill>
                <a:latin typeface="Calibri"/>
              </a:rPr>
              <a:t>React 18 + Vite · un solo contenedor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0000" y="2556000"/>
            <a:ext cx="7549200" cy="9000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3D6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0500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071600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212000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Administración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12000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por empresa cliente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604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1999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722399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Consola de agente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2399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colas y transcripción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0800" y="2646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92400" y="2667599"/>
            <a:ext cx="2305200" cy="504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232800" y="2818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Chat + widget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2800" y="3142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enlace o embebido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7572600" y="3519000"/>
            <a:ext cx="324000" cy="1800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86600" y="3486599"/>
            <a:ext cx="3522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REST + JWT  ·  eventos por WebSocket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0000" y="3761999"/>
            <a:ext cx="37746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BACKEND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4600" y="3769199"/>
            <a:ext cx="3774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500" b="0">
                <a:solidFill>
                  <a:srgbClr val="3B5B63"/>
                </a:solidFill>
                <a:latin typeface="Calibri"/>
              </a:rPr>
              <a:t>FastAPI · control por rol y empresa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0000" y="3960000"/>
            <a:ext cx="7549200" cy="9000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3D6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500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071600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212000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Motor RAG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12000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clasificador y agentes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604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581999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722399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Ingesta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22399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documentos, FAQ, sitio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70800" y="4050000"/>
            <a:ext cx="23484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2400" y="4071600"/>
            <a:ext cx="2305200" cy="504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9232800" y="4222800"/>
            <a:ext cx="20244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14303A"/>
                </a:solidFill>
                <a:latin typeface="Calibri"/>
              </a:rPr>
              <a:t>Derivación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32800" y="4546800"/>
            <a:ext cx="2024400" cy="21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60" b="0">
                <a:solidFill>
                  <a:srgbClr val="3B5B63"/>
                </a:solidFill>
                <a:latin typeface="Calibri"/>
              </a:rPr>
              <a:t>en vivo o como ticket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7572600" y="4923000"/>
            <a:ext cx="324000" cy="180000"/>
          </a:xfrm>
          <a:prstGeom prst="downArrow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86600" y="4890600"/>
            <a:ext cx="35226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consulta y escribe, por empresa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60000" y="5166000"/>
            <a:ext cx="3666599" cy="8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981600" y="5187600"/>
            <a:ext cx="3623400" cy="50400"/>
          </a:xfrm>
          <a:prstGeom prst="rect">
            <a:avLst/>
          </a:prstGeom>
          <a:solidFill>
            <a:srgbClr val="046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4140000" y="5299200"/>
            <a:ext cx="3306599" cy="19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1">
                <a:solidFill>
                  <a:srgbClr val="046B74"/>
                </a:solidFill>
                <a:latin typeface="Calibri"/>
              </a:rPr>
              <a:t>DATOS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40000" y="5500800"/>
            <a:ext cx="3306599" cy="2808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1">
                <a:solidFill>
                  <a:srgbClr val="14303A"/>
                </a:solidFill>
                <a:latin typeface="Calibri"/>
              </a:rPr>
              <a:t>PostgreSQL + pgvector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40000" y="5767200"/>
            <a:ext cx="3306599" cy="2592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0">
                <a:solidFill>
                  <a:srgbClr val="3B5B63"/>
                </a:solidFill>
                <a:latin typeface="Calibri"/>
              </a:rPr>
              <a:t>16 tablas, todas por empresa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42599" y="5166000"/>
            <a:ext cx="3666599" cy="8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90000" rIns="108000" bIns="90000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864199" y="5187600"/>
            <a:ext cx="3623400" cy="50400"/>
          </a:xfrm>
          <a:prstGeom prst="rect">
            <a:avLst/>
          </a:prstGeom>
          <a:solidFill>
            <a:srgbClr val="3B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022599" y="5299200"/>
            <a:ext cx="3306599" cy="19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1">
                <a:solidFill>
                  <a:srgbClr val="3B5B63"/>
                </a:solidFill>
                <a:latin typeface="Calibri"/>
              </a:rPr>
              <a:t>SISTEMAS EXTERNOS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22599" y="5500800"/>
            <a:ext cx="3306599" cy="2808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1">
                <a:solidFill>
                  <a:srgbClr val="14303A"/>
                </a:solidFill>
                <a:latin typeface="Calibri"/>
              </a:rPr>
              <a:t>DeepSeek · Embeddings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22599" y="5767200"/>
            <a:ext cx="3306599" cy="2592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50" b="0">
                <a:solidFill>
                  <a:srgbClr val="3B5B63"/>
                </a:solidFill>
                <a:latin typeface="Calibri"/>
              </a:rPr>
              <a:t>storage, secretos y clave por empresa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09</a:t>
            </a:r>
          </a:p>
        </p:txBody>
      </p:sp>
      <p:pic>
        <p:nvPicPr>
          <p:cNvPr id="65" name="Imagen 64">
            <a:extLst>
              <a:ext uri="{FF2B5EF4-FFF2-40B4-BE49-F238E27FC236}">
                <a16:creationId xmlns:a16="http://schemas.microsoft.com/office/drawing/2014/main" id="{3DECDE6A-9528-DEB0-A4BE-97CC5C5AA17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31803" y="1273523"/>
            <a:ext cx="12226330" cy="50185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MÉTODO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METODOLOGÍA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Cómo trabajamos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200" b="0" dirty="0">
                <a:solidFill>
                  <a:srgbClr val="3B5B63"/>
                </a:solidFill>
                <a:latin typeface="Calibri"/>
              </a:rPr>
              <a:t>Scrum </a:t>
            </a:r>
            <a:r>
              <a:rPr sz="2200" b="0" dirty="0" err="1">
                <a:solidFill>
                  <a:srgbClr val="3B5B63"/>
                </a:solidFill>
                <a:latin typeface="Calibri"/>
              </a:rPr>
              <a:t>adaptado</a:t>
            </a:r>
            <a:r>
              <a:rPr sz="2200" b="0" dirty="0">
                <a:solidFill>
                  <a:srgbClr val="3B5B63"/>
                </a:solidFill>
                <a:latin typeface="Calibri"/>
              </a:rPr>
              <a:t> a</a:t>
            </a:r>
            <a:r>
              <a:rPr lang="es-MX" sz="2200" b="0" dirty="0">
                <a:solidFill>
                  <a:srgbClr val="3B5B63"/>
                </a:solidFill>
                <a:latin typeface="Calibri"/>
              </a:rPr>
              <a:t>l</a:t>
            </a:r>
            <a:r>
              <a:rPr sz="2200" b="0" dirty="0">
                <a:solidFill>
                  <a:srgbClr val="3B5B6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B5B63"/>
                </a:solidFill>
                <a:latin typeface="Calibri"/>
              </a:rPr>
              <a:t>equipo</a:t>
            </a:r>
            <a:endParaRPr sz="2200" b="0" dirty="0">
              <a:solidFill>
                <a:srgbClr val="3B5B63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9600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3189600"/>
            <a:ext cx="64800" cy="2908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049A95"/>
                </a:solidFill>
                <a:latin typeface="Calibri"/>
              </a:rPr>
              <a:t>RITMO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60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730" b="0">
                <a:solidFill>
                  <a:srgbClr val="14303A"/>
                </a:solidFill>
                <a:latin typeface="Calibri"/>
              </a:rPr>
              <a:t>•  Sprints de dos semanas.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Daily asíncrona por escrito.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Review con demo sobre la app desplegada.</a:t>
            </a:r>
          </a:p>
          <a:p>
            <a:pPr algn="l">
              <a:lnSpc>
                <a:spcPct val="115000"/>
              </a:lnSpc>
              <a:spcBef>
                <a:spcPts val="1270"/>
              </a:spcBef>
            </a:pPr>
            <a:r>
              <a:rPr sz="1730" b="0">
                <a:solidFill>
                  <a:srgbClr val="14303A"/>
                </a:solidFill>
                <a:latin typeface="Calibri"/>
              </a:rPr>
              <a:t>•  Retrospectiva al cierre.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966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96600" y="3189600"/>
            <a:ext cx="64800" cy="2908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026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00" b="1">
                <a:solidFill>
                  <a:srgbClr val="6EA52C"/>
                </a:solidFill>
                <a:latin typeface="Calibri"/>
              </a:rPr>
              <a:t>CALIDAD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026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15000"/>
              </a:lnSpc>
            </a:pPr>
            <a:r>
              <a:rPr sz="1670" b="0">
                <a:solidFill>
                  <a:srgbClr val="14303A"/>
                </a:solidFill>
                <a:latin typeface="Calibri"/>
              </a:rPr>
              <a:t>•  ruff y pytest en cada push.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Prueba de aislamiento entre empresas.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Preguntas de prueba por cliente.</a:t>
            </a:r>
          </a:p>
          <a:p>
            <a:pPr algn="l">
              <a:lnSpc>
                <a:spcPct val="115000"/>
              </a:lnSpc>
              <a:spcBef>
                <a:spcPts val="1230"/>
              </a:spcBef>
            </a:pPr>
            <a:r>
              <a:rPr sz="1670" b="0">
                <a:solidFill>
                  <a:srgbClr val="14303A"/>
                </a:solidFill>
                <a:latin typeface="Calibri"/>
              </a:rPr>
              <a:t>•  Un ADR corto por decisión.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MODELO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16 tablas, un solo hilo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sz="2070" b="0">
                <a:solidFill>
                  <a:srgbClr val="3B5B63"/>
                </a:solidFill>
                <a:latin typeface="Calibri"/>
              </a:rPr>
              <a:t>Toda tabla lleva tenant_id: es lo que impide que una empresa vea los datos de otra.</a:t>
            </a:r>
          </a:p>
        </p:txBody>
      </p:sp>
      <p:pic>
        <p:nvPicPr>
          <p:cNvPr id="20" name="Picture 19" descr="ingest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2000" y="3960000"/>
            <a:ext cx="2932363" cy="2304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960000" y="33480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960000" y="33696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48000" y="34200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EMPRESAS Y ACCESO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48000" y="36792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tenants · users · refresh_tokens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0000" y="40608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60000" y="4082400"/>
            <a:ext cx="64800" cy="5868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48000" y="41328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CONOCIMIENTO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48000" y="43920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documents · chunks · faqs · website_scans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60000" y="47736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960000" y="47952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248000" y="48456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CONVERSACIÓN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48000" y="51048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bot_agents · conversations · messages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60000" y="54864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960000" y="55080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48000" y="55584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1">
                <a:solidFill>
                  <a:srgbClr val="046B74"/>
                </a:solidFill>
                <a:latin typeface="Calibri"/>
              </a:rPr>
              <a:t>ATENCIÓN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48000" y="58176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700" b="0">
                <a:solidFill>
                  <a:srgbClr val="14303A"/>
                </a:solidFill>
                <a:latin typeface="Calibri"/>
              </a:rPr>
              <a:t>tickets · usage_events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827999"/>
            <a:ext cx="75492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6EA52C"/>
                </a:solidFill>
                <a:latin typeface="Calibri"/>
              </a:rPr>
              <a:t>TECNOLOGÍAS UTILIZADAS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1224000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4303A"/>
                </a:solidFill>
                <a:latin typeface="Calibri"/>
              </a:rPr>
              <a:t>Con qué está hecho</a:t>
            </a:r>
          </a:p>
        </p:txBody>
      </p:sp>
      <p:pic>
        <p:nvPicPr>
          <p:cNvPr id="19" name="Picture 18" descr="metrica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00000" y="3888000"/>
            <a:ext cx="2932363" cy="2304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3960000" y="2592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60000" y="2613600"/>
            <a:ext cx="64800" cy="496799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66000" y="2736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Frontend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0000" y="2721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React 18 + 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60000" y="32112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960000" y="32328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66000" y="33552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Backend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80000" y="33408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Python + FastAPI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0000" y="38304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60000" y="38520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266000" y="39744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Base de datos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80000" y="39600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80" b="1">
                <a:solidFill>
                  <a:srgbClr val="14303A"/>
                </a:solidFill>
                <a:latin typeface="Calibri"/>
              </a:rPr>
              <a:t>PostgreSQL + pgvector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60000" y="44496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60000" y="44712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266000" y="45936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Modelo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80000" y="45792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DeepSeek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60000" y="50688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960000" y="50904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266000" y="52128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Colas y tiempo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0000" y="51984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arq sobre Redis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60000" y="5688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960000" y="57096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4266000" y="5832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0">
                <a:solidFill>
                  <a:srgbClr val="3B5B63"/>
                </a:solidFill>
                <a:latin typeface="Calibri"/>
              </a:rPr>
              <a:t>Despliegue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0000" y="5817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939" b="1">
                <a:solidFill>
                  <a:srgbClr val="14303A"/>
                </a:solidFill>
                <a:latin typeface="Calibri"/>
              </a:rPr>
              <a:t>Vercel + 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4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5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5577" y="-49238"/>
            <a:ext cx="7549200" cy="86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 dirty="0" err="1">
                <a:solidFill>
                  <a:srgbClr val="14303A"/>
                </a:solidFill>
                <a:latin typeface="Calibri"/>
              </a:rPr>
              <a:t>Rediseño</a:t>
            </a:r>
            <a:r>
              <a:rPr sz="5000" b="1" dirty="0">
                <a:solidFill>
                  <a:srgbClr val="14303A"/>
                </a:solidFill>
                <a:latin typeface="Calibri"/>
              </a:rPr>
              <a:t> de wireframe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6681" y="721004"/>
            <a:ext cx="75492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000" b="0" dirty="0">
                <a:solidFill>
                  <a:srgbClr val="3B5B63"/>
                </a:solidFill>
                <a:latin typeface="Calibri"/>
              </a:rPr>
              <a:t>1 min 53 s </a:t>
            </a:r>
            <a:r>
              <a:rPr sz="2000" b="0" dirty="0" err="1">
                <a:solidFill>
                  <a:srgbClr val="3B5B63"/>
                </a:solidFill>
                <a:latin typeface="Calibri"/>
              </a:rPr>
              <a:t>por</a:t>
            </a:r>
            <a:r>
              <a:rPr sz="2000" b="0" dirty="0">
                <a:solidFill>
                  <a:srgbClr val="3B5B63"/>
                </a:solidFill>
                <a:latin typeface="Calibri"/>
              </a:rPr>
              <a:t> las </a:t>
            </a:r>
            <a:r>
              <a:rPr sz="2000" b="0" dirty="0" err="1">
                <a:solidFill>
                  <a:srgbClr val="3B5B63"/>
                </a:solidFill>
                <a:latin typeface="Calibri"/>
              </a:rPr>
              <a:t>nueve</a:t>
            </a:r>
            <a:r>
              <a:rPr sz="2000" b="0" dirty="0">
                <a:solidFill>
                  <a:srgbClr val="3B5B63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B5B63"/>
                </a:solidFill>
                <a:latin typeface="Calibri"/>
              </a:rPr>
              <a:t>pantallas</a:t>
            </a:r>
            <a:r>
              <a:rPr sz="2000" b="0" dirty="0">
                <a:solidFill>
                  <a:srgbClr val="3B5B63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3B5B63"/>
                </a:solidFill>
                <a:latin typeface="Calibri"/>
              </a:rPr>
              <a:t>componente</a:t>
            </a:r>
            <a:r>
              <a:rPr sz="2000" b="0" dirty="0">
                <a:solidFill>
                  <a:srgbClr val="3B5B63"/>
                </a:solidFill>
                <a:latin typeface="Calibri"/>
              </a:rPr>
              <a:t> a </a:t>
            </a:r>
            <a:r>
              <a:rPr sz="2000" b="0" dirty="0" err="1">
                <a:solidFill>
                  <a:srgbClr val="3B5B63"/>
                </a:solidFill>
                <a:latin typeface="Calibri"/>
              </a:rPr>
              <a:t>componente</a:t>
            </a:r>
            <a:r>
              <a:rPr sz="2000" b="0" dirty="0">
                <a:solidFill>
                  <a:srgbClr val="3B5B63"/>
                </a:solidFill>
                <a:latin typeface="Calibr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7458" y="1142200"/>
            <a:ext cx="8787184" cy="56172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3D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8000" tIns="144000" rIns="198000" bIns="144000" rtlCol="0" anchor="ctr"/>
          <a:lstStyle/>
          <a:p>
            <a:pPr algn="ctr"/>
            <a:endParaRPr/>
          </a:p>
        </p:txBody>
      </p:sp>
      <p:pic>
        <p:nvPicPr>
          <p:cNvPr id="21" name="Chatbot-Soporte-Recorrido-ppt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358509" y="1288519"/>
            <a:ext cx="8348217" cy="534217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896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cuna-documentos" descr="cuna-documentos.png"/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 rot="165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5" name="icono-documentos" descr="icono-documentos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651053" y="769108"/>
            <a:ext cx="684000" cy="684000"/>
          </a:xfrm>
          <a:prstGeom prst="rect">
            <a:avLst/>
          </a:prstGeom>
        </p:spPr>
      </p:pic>
      <p:pic>
        <p:nvPicPr>
          <p:cNvPr id="6" name="cuna-chat" descr="cuna-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7" name="icono-chat" descr="icono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39" y="1899671"/>
            <a:ext cx="684000" cy="684000"/>
          </a:xfrm>
          <a:prstGeom prst="rect">
            <a:avLst/>
          </a:prstGeom>
        </p:spPr>
      </p:pic>
      <p:pic>
        <p:nvPicPr>
          <p:cNvPr id="8" name="cuna-agentes" descr="cuna-agentes.png"/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 rot="21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9" name="icono-agentes" descr="icono-agentes.png"/>
          <p:cNvPicPr>
            <a:picLocks noChangeAspect="1"/>
          </p:cNvPicPr>
          <p:nvPr/>
        </p:nvPicPr>
        <p:blipFill>
          <a:blip r:embed="rId7">
            <a:alphaModFix amt="45000"/>
          </a:blip>
          <a:stretch>
            <a:fillRect/>
          </a:stretch>
        </p:blipFill>
        <p:spPr>
          <a:xfrm>
            <a:off x="2006086" y="3812562"/>
            <a:ext cx="684000" cy="684000"/>
          </a:xfrm>
          <a:prstGeom prst="rect">
            <a:avLst/>
          </a:prstGeom>
        </p:spPr>
      </p:pic>
      <p:pic>
        <p:nvPicPr>
          <p:cNvPr id="10" name="cuna-derivacion" descr="cuna-derivacion.png"/>
          <p:cNvPicPr>
            <a:picLocks noChangeAspect="1"/>
          </p:cNvPicPr>
          <p:nvPr/>
        </p:nvPicPr>
        <p:blipFill>
          <a:blip r:embed="rId8">
            <a:alphaModFix amt="45000"/>
          </a:blip>
          <a:stretch>
            <a:fillRect/>
          </a:stretch>
        </p:blipFill>
        <p:spPr>
          <a:xfrm rot="57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1" name="icono-derivacion" descr="icono-derivacion.png"/>
          <p:cNvPicPr>
            <a:picLocks noChangeAspect="1"/>
          </p:cNvPicPr>
          <p:nvPr/>
        </p:nvPicPr>
        <p:blipFill>
          <a:blip r:embed="rId9">
            <a:alphaModFix amt="45000"/>
          </a:blip>
          <a:stretch>
            <a:fillRect/>
          </a:stretch>
        </p:blipFill>
        <p:spPr>
          <a:xfrm>
            <a:off x="248946" y="4594891"/>
            <a:ext cx="684000" cy="684000"/>
          </a:xfrm>
          <a:prstGeom prst="rect">
            <a:avLst/>
          </a:prstGeom>
        </p:spPr>
      </p:pic>
      <p:pic>
        <p:nvPicPr>
          <p:cNvPr id="12" name="cuna-datos" descr="cuna-datos.png"/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 rot="93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3" name="icono-datos" descr="icono-datos.png"/>
          <p:cNvPicPr>
            <a:picLocks noChangeAspect="1"/>
          </p:cNvPicPr>
          <p:nvPr/>
        </p:nvPicPr>
        <p:blipFill>
          <a:blip r:embed="rId11">
            <a:alphaModFix amt="45000"/>
          </a:blip>
          <a:stretch>
            <a:fillRect/>
          </a:stretch>
        </p:blipFill>
        <p:spPr>
          <a:xfrm>
            <a:off x="-1307139" y="3464328"/>
            <a:ext cx="684000" cy="684000"/>
          </a:xfrm>
          <a:prstGeom prst="rect">
            <a:avLst/>
          </a:prstGeom>
        </p:spPr>
      </p:pic>
      <p:pic>
        <p:nvPicPr>
          <p:cNvPr id="14" name="cuna-metricas" descr="cuna-metricas.png"/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 rot="12960000">
            <a:off x="-1655999" y="576000"/>
            <a:ext cx="4896000" cy="4896000"/>
          </a:xfrm>
          <a:prstGeom prst="rect">
            <a:avLst/>
          </a:prstGeom>
        </p:spPr>
      </p:pic>
      <p:pic>
        <p:nvPicPr>
          <p:cNvPr id="15" name="icono-metricas" descr="icono-metricas.png"/>
          <p:cNvPicPr>
            <a:picLocks noChangeAspect="1"/>
          </p:cNvPicPr>
          <p:nvPr/>
        </p:nvPicPr>
        <p:blipFill>
          <a:blip r:embed="rId13">
            <a:alphaModFix amt="45000"/>
          </a:blip>
          <a:stretch>
            <a:fillRect/>
          </a:stretch>
        </p:blipFill>
        <p:spPr>
          <a:xfrm>
            <a:off x="-1106086" y="1551437"/>
            <a:ext cx="684000" cy="6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14303A"/>
                </a:solidFill>
                <a:latin typeface="Calibri"/>
              </a:rPr>
              <a:t>GRACIAS</a:t>
            </a:r>
          </a:p>
        </p:txBody>
      </p:sp>
      <p:pic>
        <p:nvPicPr>
          <p:cNvPr id="17" name="Picture 16" descr="agen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0000" y="3311999"/>
            <a:ext cx="3665454" cy="288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60000" y="1584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60000" y="1728000"/>
            <a:ext cx="4752000" cy="273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Una primera línea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de atención que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14303A"/>
                </a:solidFill>
                <a:latin typeface="Calibri"/>
              </a:rPr>
              <a:t>no se construye</a:t>
            </a:r>
          </a:p>
          <a:p>
            <a:pPr algn="l">
              <a:lnSpc>
                <a:spcPct val="104000"/>
              </a:lnSpc>
            </a:pPr>
            <a:r>
              <a:rPr sz="4200" b="1">
                <a:solidFill>
                  <a:srgbClr val="046B74"/>
                </a:solidFill>
                <a:latin typeface="Calibri"/>
              </a:rPr>
              <a:t>dos veces.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4824000"/>
            <a:ext cx="4536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>
                <a:solidFill>
                  <a:srgbClr val="3B5B63"/>
                </a:solidFill>
                <a:latin typeface="Calibri"/>
              </a:rPr>
              <a:t>Clientes iniciales:</a:t>
            </a:r>
          </a:p>
          <a:p>
            <a:pPr algn="l">
              <a:spcBef>
                <a:spcPts val="400"/>
              </a:spcBef>
            </a:pPr>
            <a:r>
              <a:rPr sz="2000" b="1">
                <a:solidFill>
                  <a:srgbClr val="14303A"/>
                </a:solidFill>
                <a:latin typeface="Calibri"/>
              </a:rPr>
              <a:t>WellQ, Alloxentric, Directa y Dani27001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3B5B63"/>
                </a:solidFill>
                <a:latin typeface="Calibri"/>
              </a:rPr>
              <a:t>Defensa: 4 de diciembre 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>
                <a:solidFill>
                  <a:srgbClr val="3B5B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851</Words>
  <Application>Microsoft Office PowerPoint</Application>
  <PresentationFormat>Personalizado</PresentationFormat>
  <Paragraphs>229</Paragraphs>
  <Slides>14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EXEQUIEL SAMUEL ALVARADO NAVARRETE</cp:lastModifiedBy>
  <cp:revision>4</cp:revision>
  <dcterms:created xsi:type="dcterms:W3CDTF">2013-01-27T09:14:16Z</dcterms:created>
  <dcterms:modified xsi:type="dcterms:W3CDTF">2026-09-05T00:09:25Z</dcterms:modified>
  <cp:category/>
</cp:coreProperties>
</file>