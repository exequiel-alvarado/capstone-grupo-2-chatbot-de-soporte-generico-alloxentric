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6" r:id="rId17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18OuWvMKms+lqexE12BEMPfh4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5CEAC9-8C34-4B14-AC51-F4476737EC4A}">
  <a:tblStyle styleId="{E15CEAC9-8C34-4B14-AC51-F4476737EC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7" Type="http://schemas.openxmlformats.org/officeDocument/2006/relationships/slide" Target="slides/slide11.xml"/><Relationship Id="rId2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000000"/>
                </a:solidFill>
                <a:latin typeface="Calibri"/>
              </a:rPr>
              <a:t>PROYECTO CHATBOT DE SOPORTE GENÉRICO ALLOXENTRIC</a:t>
            </a:r>
            <a:endParaRPr/>
          </a:p>
          <a:p>
            <a:pPr algn="ctr">
              <a:spcBef>
                <a:spcPts val="600"/>
              </a:spcBef>
            </a:pPr>
            <a:r>
              <a:rPr sz="2400" b="0">
                <a:solidFill>
                  <a:srgbClr val="000000"/>
                </a:solidFill>
                <a:latin typeface="Calibri"/>
              </a:rPr>
              <a:t>PRESENTACIÓN CAPSTONE · APT122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0000" y="4248000"/>
            <a:ext cx="10753200" cy="129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0">
                <a:solidFill>
                  <a:srgbClr val="757070"/>
                </a:solidFill>
                <a:latin typeface="Calibri"/>
              </a:rPr>
              <a:t>Grupo 2 · Duoc UC · Sede Antonio Varas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757070"/>
                </a:solidFill>
                <a:latin typeface="Calibri"/>
              </a:rPr>
              <a:t>Exequiel Alvarado · Diana Guerrero · Cristian Jorquera · Manuel Jansen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757070"/>
                </a:solidFill>
                <a:latin typeface="Calibri"/>
              </a:rPr>
              <a:t>Profesor: Arturo Guerra Castro</a:t>
            </a: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" name="Rounded Rectangle 103"/>
          <p:cNvSpPr/>
          <p:nvPr/>
        </p:nvSpPr>
        <p:spPr>
          <a:xfrm>
            <a:off x="4104000" y="1584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84000" y="1764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EA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148000" y="1764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Exequiel Alvarado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148000" y="2088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Desarrollo (backend, frontend, infraestructura)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ex.alvarado@duocuc.cl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04000" y="2790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284000" y="2970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DG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148000" y="2970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Diana Guerrero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148000" y="3294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Coordinación / Product Owner, planificación Jira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dia.guerrero@duocuc.cl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04000" y="3996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284000" y="4176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CJ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148000" y="4176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Cristian Jorquera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148000" y="4500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Aseguramiento de calidad, historias de usuario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cr.jorquerag@duocuc.cl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104000" y="5202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284000" y="5382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MJ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148000" y="5382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Manuel Jansen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148000" y="5706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Diseño de interfaz y mockups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ma.jansen@duocuc.cl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51999" y="4464000"/>
            <a:ext cx="3600000" cy="93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57070"/>
                </a:solidFill>
                <a:latin typeface="Calibri"/>
              </a:rPr>
              <a:t>Cuatro integrantes; una sola persona programa.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Cada uno defiende dos épicas del proyecto, las haya codeado o no.</a:t>
            </a: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00000"/>
                </a:solidFill>
                <a:latin typeface="Calibri"/>
              </a:rPr>
              <a:t>Problema o dolor</a:t>
            </a:r>
            <a:endParaRPr/>
          </a:p>
          <a:p>
            <a:pPr algn="l"/>
            <a:r>
              <a:rPr sz="1000" b="0">
                <a:solidFill>
                  <a:srgbClr val="252A30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Todo producto SaaS debe atender las consultas de sus usuarios finales.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Hacerlo con soporte humano dedicado por producto es caro y no escala.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Cada empresa tiene su propia documentación: hoy la única salida es un desarrollo a medida por cliente.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Alloxentric repite ese desarrollo con cada empresa que atiende.</a:t>
            </a: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00000"/>
                </a:solidFill>
                <a:latin typeface="Calibri"/>
              </a:rPr>
              <a:t>Propuesta de solución</a:t>
            </a:r>
            <a:endParaRPr/>
          </a:p>
          <a:p>
            <a:pPr algn="l"/>
            <a:r>
              <a:rPr sz="1000" b="0">
                <a:solidFill>
                  <a:srgbClr val="252A30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Una plataforma multi-tenant: cada empresa carga sus documentos, sus FAQ y su sitio.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Se construye su base de conocimiento vectorizada y se le genera un chatbot con enlace propio.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Dos agentes por empresa —técnico y comercial— con un clasificador de intención que enruta cada consulta.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Si el bot no resuelve, deriva a un humano: en vivo si hay alguien, como ticket si no.</a:t>
            </a: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52A30"/>
                </a:solidFill>
                <a:latin typeface="Calibri"/>
              </a:rPr>
              <a:t>Desarrollar una plataforma multi-tenant de soporte conversacional —módulo de administración, chat web con dos agentes RAG especializados y consola para agentes humanos— de modo que cualquier empresa cliente de Alloxentric ofrezca a sus usuarios una primera línea de atención automatizada con respaldo humano.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0" b="0">
                <a:solidFill>
                  <a:srgbClr val="252A30"/>
                </a:solidFill>
                <a:latin typeface="Calibri"/>
              </a:rPr>
              <a:t>•  Administrar: un módulo donde cada empresa gestiona su cuenta, documentos, FAQ y agentes.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Ingerir: un pipeline que vectoriza documentos, FAQ y sitio web por cliente y tipo de chat.</a:t>
            </a: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Responder: motor RAG con clasificador de intención y dos agentes, generando con DeepSeek.</a:t>
            </a: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Derivar: chat en vivo con el humano del tipo correcto, o ticket si no hay nadie disponible.</a:t>
            </a: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Medir: aislamiento entre empresas, dashboards y consumo de tokens por período.</a:t>
            </a: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Alcance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4" name="Rounded Rectangle 133"/>
          <p:cNvSpPr/>
          <p:nvPr/>
        </p:nvSpPr>
        <p:spPr>
          <a:xfrm>
            <a:off x="720000" y="2376000"/>
            <a:ext cx="5196600" cy="37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20000" y="2394000"/>
            <a:ext cx="50400" cy="3708000"/>
          </a:xfrm>
          <a:prstGeom prst="rect">
            <a:avLst/>
          </a:prstGeom>
          <a:solidFill>
            <a:srgbClr val="4F8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972000" y="2538000"/>
            <a:ext cx="47646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F8A4F"/>
                </a:solidFill>
                <a:latin typeface="Calibri"/>
              </a:rPr>
              <a:t>DENTRO DE LA V1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72000" y="2916000"/>
            <a:ext cx="4764600" cy="30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270" b="0">
                <a:solidFill>
                  <a:srgbClr val="252A30"/>
                </a:solidFill>
                <a:latin typeface="Calibri"/>
              </a:rPr>
              <a:t>•  Administración multi-tenant en dos niveles: plataforma y empresa.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Documentos PDF/DOCX/TXT/MD por tipo de chat, FAQ con sugerencias de IA y escaneo del sitio del cliente.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Dos agentes del bot por empresa; el comercial se puede desactivar.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Chat web con enlace único por cliente y widget embebible.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Derivación a humano: chat en vivo con consola de agente, o ticket.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Dashboards con consumo de tokens por período.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Interfaz en español, inglés y portugués, con modo claro y oscuro.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276600" y="2376000"/>
            <a:ext cx="5196600" cy="37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276600" y="2394000"/>
            <a:ext cx="50400" cy="3708000"/>
          </a:xfrm>
          <a:prstGeom prst="rect">
            <a:avLst/>
          </a:prstGeom>
          <a:solidFill>
            <a:srgbClr val="C06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6528599" y="2538000"/>
            <a:ext cx="47646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C06A28"/>
                </a:solidFill>
                <a:latin typeface="Calibri"/>
              </a:rPr>
              <a:t>FUERA DE LA V1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528599" y="2916000"/>
            <a:ext cx="4764600" cy="30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52A30"/>
                </a:solidFill>
                <a:latin typeface="Calibri"/>
              </a:rPr>
              <a:t>•  Canal WhatsApp: la verificación de Meta toma semanas y no depende del equipo. El código queda escrito e inactivo.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Derivación a agentes humanos por WhatsApp.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Telefonía y voz, Telegram y redes sociales.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Facturación automática por uso de la plataforma.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Row Level Security: el aislamiento se resuelve en la capa de aplicación.</a:t>
            </a: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000000"/>
                </a:solidFill>
                <a:latin typeface="Calibri"/>
              </a:rPr>
              <a:t>Cronograma o Release Plan para el desarrollo del proyecto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1 de 2 · definición y primera mitad del desarrollo</a:t>
            </a:r>
          </a:p>
        </p:txBody>
      </p:sp>
      <p:cxnSp>
        <p:nvCxnSpPr>
          <p:cNvPr id="141" name="Google Shape;14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684000" y="2448000"/>
          <a:ext cx="10835982" cy="273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4000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Fase 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9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10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Definición del proyecto, objetivos y alcance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Arquitectura, modelo de datos y wireframes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Despliegue, CI/CD y alta de los cuatro clientes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Ingesta: documentos, FAQ y escaneo del sitio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Indexación vectorial por empresa y tipo de chat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Clasificador de intención y dos agentes RAG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Rounded Rectangle 142"/>
          <p:cNvSpPr/>
          <p:nvPr/>
        </p:nvSpPr>
        <p:spPr>
          <a:xfrm>
            <a:off x="684000" y="5616000"/>
            <a:ext cx="108360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Seis sprints de dos semanas. Cada uno entrega una parte funcional y verificable, no un documento.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757070"/>
                </a:solidFill>
                <a:latin typeface="Calibri"/>
              </a:rPr>
              <a:t>Semanas 1 a 4 · Fase 1, definición.    Semanas 5 a 16 · Fase 2, desarrollo.    Semanas 17 y 18 · Fase 3, presentación.</a:t>
            </a: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Arquitectura del software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Cuatro capas · todo lo que está bajo las interfaces es multi-tenant: cada operación corre en el contexto de una empresa</a:t>
            </a:r>
          </a:p>
        </p:txBody>
      </p:sp>
      <p:cxnSp>
        <p:nvCxnSpPr>
          <p:cNvPr id="150" name="Google Shape;15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1" name="Rounded Rectangle 150"/>
          <p:cNvSpPr/>
          <p:nvPr/>
        </p:nvSpPr>
        <p:spPr>
          <a:xfrm>
            <a:off x="720000" y="27000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0000" y="2718000"/>
            <a:ext cx="57600" cy="684000"/>
          </a:xfrm>
          <a:prstGeom prst="rect">
            <a:avLst/>
          </a:prstGeom>
          <a:solidFill>
            <a:srgbClr val="1C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07999" y="28080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INTERFACES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07999" y="30780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Chat web (enlace único + widget)  ·  Módulo de administración  ·  Consola de agente</a:t>
            </a:r>
          </a:p>
        </p:txBody>
      </p:sp>
      <p:sp>
        <p:nvSpPr>
          <p:cNvPr id="155" name="Down Arrow 154"/>
          <p:cNvSpPr/>
          <p:nvPr/>
        </p:nvSpPr>
        <p:spPr>
          <a:xfrm>
            <a:off x="5952600" y="3434399"/>
            <a:ext cx="288000" cy="194400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20000" y="36432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20000" y="3661200"/>
            <a:ext cx="57600" cy="684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007999" y="37512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APLICACIÓN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007999" y="40212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API REST FastAPI  ·  JWT RS256  ·  acceso por rol y por tenant  ·  cifrado de API keys  ·  límites de consumo</a:t>
            </a:r>
          </a:p>
        </p:txBody>
      </p:sp>
      <p:sp>
        <p:nvSpPr>
          <p:cNvPr id="160" name="Down Arrow 159"/>
          <p:cNvSpPr/>
          <p:nvPr/>
        </p:nvSpPr>
        <p:spPr>
          <a:xfrm>
            <a:off x="5952600" y="4377600"/>
            <a:ext cx="288000" cy="194400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20000" y="45864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20000" y="4604400"/>
            <a:ext cx="57600" cy="684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1007999" y="46944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DOMINIO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07999" y="49644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Motor RAG:  clasificador → agente técnico | comercial → recuperación de pasajes → respuesta → derivación</a:t>
            </a:r>
          </a:p>
        </p:txBody>
      </p:sp>
      <p:sp>
        <p:nvSpPr>
          <p:cNvPr id="165" name="Down Arrow 164"/>
          <p:cNvSpPr/>
          <p:nvPr/>
        </p:nvSpPr>
        <p:spPr>
          <a:xfrm>
            <a:off x="5952600" y="5320800"/>
            <a:ext cx="288000" cy="194400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720000" y="55296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0000" y="5547600"/>
            <a:ext cx="57600" cy="684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1007999" y="56376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DATOS Y SERVICIOS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07999" y="59076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Ingesta con arq sobre Redis  ·  PostgreSQL 16 + pgvector (HNSW)  ·  DeepSeek  ·  embeddings</a:t>
            </a: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000000"/>
                </a:solidFill>
                <a:latin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Scrum adaptado a un equipo con un solo desarrollador: menos ceremonia, más demostración</a:t>
            </a:r>
          </a:p>
        </p:txBody>
      </p:sp>
      <p:cxnSp>
        <p:nvCxnSpPr>
          <p:cNvPr id="158" name="Google Shape;158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9" name="Rounded Rectangle 158"/>
          <p:cNvSpPr/>
          <p:nvPr/>
        </p:nvSpPr>
        <p:spPr>
          <a:xfrm>
            <a:off x="720000" y="2664000"/>
            <a:ext cx="3392399" cy="33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20000" y="2682000"/>
            <a:ext cx="50400" cy="33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972000" y="2826000"/>
            <a:ext cx="29604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RITMO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72000" y="3204000"/>
            <a:ext cx="2960400" cy="266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Sprints de dos semanas.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Planning de 45 min al inicio.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Daily asíncrona por escrito: hice / haré / bloqueado.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Review de 30 min con demo sobre la aplicación desplegada.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Retrospectiva de 20 min.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400400" y="2664000"/>
            <a:ext cx="3392399" cy="33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400400" y="2682000"/>
            <a:ext cx="50400" cy="33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4652399" y="2826000"/>
            <a:ext cx="29604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CÓMO SE CONTROLA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52399" y="3204000"/>
            <a:ext cx="2960400" cy="266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Backlog y tablero en Jira.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Puntos Fibonacci en desarrollo; el resto, en horas.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Todo entra a main por pull request, con la integración continua en verde.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Cada decisión de arquitectura queda escrita como un ADR corto.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080800" y="2664000"/>
            <a:ext cx="3392399" cy="33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080800" y="2682000"/>
            <a:ext cx="50400" cy="33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332799" y="2826000"/>
            <a:ext cx="29604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CÓMO SE MIDE LA CALIDAD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332799" y="3204000"/>
            <a:ext cx="2960400" cy="266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52A30"/>
                </a:solidFill>
                <a:latin typeface="Calibri"/>
              </a:rPr>
              <a:t>•  GitHub Actions corre ruff y pytest en cada push.</a:t>
            </a:r>
          </a:p>
          <a:p>
            <a:pPr algn="l">
              <a:lnSpc>
                <a:spcPct val="108000"/>
              </a:lnSpc>
              <a:spcBef>
                <a:spcPts val="969"/>
              </a:spcBef>
            </a:pPr>
            <a:r>
              <a:rPr sz="1550" b="0">
                <a:solidFill>
                  <a:srgbClr val="252A30"/>
                </a:solidFill>
                <a:latin typeface="Calibri"/>
              </a:rPr>
              <a:t>•  Prueba de aislamiento: autenticado como una empresa, ninguna consulta devuelve datos de otra.</a:t>
            </a:r>
          </a:p>
          <a:p>
            <a:pPr algn="l">
              <a:lnSpc>
                <a:spcPct val="108000"/>
              </a:lnSpc>
              <a:spcBef>
                <a:spcPts val="969"/>
              </a:spcBef>
            </a:pPr>
            <a:r>
              <a:rPr sz="1550" b="0">
                <a:solidFill>
                  <a:srgbClr val="252A30"/>
                </a:solidFill>
                <a:latin typeface="Calibri"/>
              </a:rPr>
              <a:t>•  Set de preguntas de prueba por cliente y por tipo de agente, para medir la mejora del bot durante el semestre.</a:t>
            </a: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Modelo de datos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16 tablas · toda tabla de negocio lleva tenant_id y se filtra por él: es lo que impide que una empresa vea los datos de otra</a:t>
            </a:r>
          </a:p>
        </p:txBody>
      </p:sp>
      <p:cxnSp>
        <p:nvCxnSpPr>
          <p:cNvPr id="166" name="Google Shape;166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7" name="Rounded Rectangle 166"/>
          <p:cNvSpPr/>
          <p:nvPr/>
        </p:nvSpPr>
        <p:spPr>
          <a:xfrm>
            <a:off x="720000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0000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972000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EMPRESAS Y ACCESO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72000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tenants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users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refresh_tokens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platform_settings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462300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462300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3714299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CONOCIMIENTO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714299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70" b="0">
                <a:solidFill>
                  <a:srgbClr val="252A30"/>
                </a:solidFill>
                <a:latin typeface="Calibri"/>
              </a:rPr>
              <a:t>documents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chunks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faqs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faq_suggestions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faq_improvements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website_scans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204600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204600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6456600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CONVERSACIÓN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456600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bot_agents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conversations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messages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rag_suggestions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946899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946899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9198899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ATENCIÓN Y CONSUMO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198899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tickets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usage_events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20000" y="5227200"/>
            <a:ext cx="43200" cy="19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900000" y="5202000"/>
            <a:ext cx="2376000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chunks.embedding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3348000" y="5209200"/>
            <a:ext cx="81251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vector con índice HNSW: hace posible la búsqueda semántica sobre la documentación de cada empresa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20000" y="5569200"/>
            <a:ext cx="43200" cy="19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900000" y="5544000"/>
            <a:ext cx="2376000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chat_type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348000" y="5551200"/>
            <a:ext cx="81251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technical · commercial · both — atraviesa documentos, FAQ y agentes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20000" y="5911199"/>
            <a:ext cx="43200" cy="19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900000" y="5885999"/>
            <a:ext cx="2376000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conversations.status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348000" y="5893200"/>
            <a:ext cx="81251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bot · queued · live · ticket · resolved · abandoned</a:t>
            </a: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Tecnologías utilizadas</a:t>
            </a:r>
            <a:endParaRPr/>
          </a:p>
        </p:txBody>
      </p:sp>
      <p:cxnSp>
        <p:nvCxnSpPr>
          <p:cNvPr id="174" name="Google Shape;17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5" name="Rounded Rectangle 174"/>
          <p:cNvSpPr/>
          <p:nvPr/>
        </p:nvSpPr>
        <p:spPr>
          <a:xfrm>
            <a:off x="720000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20000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72000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FRONTEND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36000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React 18 + Vite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36000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SPA en JavaScript · React Router · i18n ES/EN/PT · tema claro y oscuro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453300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53300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3705299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BACKEND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669299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Python + FastAPI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669299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SQLAlchemy 2.0 asíncrono · 72 endpoints REST · 2 canales WebSocket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186600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186600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438599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BASE DE DATOS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402600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70" b="1">
                <a:solidFill>
                  <a:srgbClr val="1C3052"/>
                </a:solidFill>
                <a:latin typeface="Calibri"/>
              </a:rPr>
              <a:t>PostgreSQL + pgvector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402600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16 tablas con migraciones Alembic · índice HNSW para búsqueda vectorial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919899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919899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9171899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MODELO DE LENGUAJE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135900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DeepSeek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9135900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Una API key por empresa, guardada cifrada, tras una capa LLMProvider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720000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20000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972000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EMBEDDINGS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36000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C3052"/>
                </a:solidFill>
                <a:latin typeface="Calibri"/>
              </a:rPr>
              <a:t>text-embedding-3-small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36000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1536 dimensiones · backend determinista para desarrollo y pruebas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453300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3453300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3705299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COLAS Y TIEMPO REAL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669299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arq sobre Redis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669299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Ingesta y escaneo fuera del ciclo de petición · WebSockets con pub/sub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186600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186600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6438599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AUTENTICACIÓN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402600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JWT RS256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6402600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70" b="0">
                <a:solidFill>
                  <a:srgbClr val="252A30"/>
                </a:solidFill>
                <a:latin typeface="Calibri"/>
              </a:rPr>
              <a:t>Access de 30 min + refresh de un solo uso con rotación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919899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919899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9171899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DESPLIEGUE Y CI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135900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Vercel + Docker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9135900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Frontend en Vercel · API y worker en contenedores · GitHub Actions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720000" y="5903999"/>
            <a:ext cx="10753200" cy="360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757070"/>
                </a:solidFill>
                <a:latin typeface="Calibri"/>
              </a:rPr>
              <a:t>Cada integración externa tiene cliente real y modo de desarrollo sin credenciales: el proyecto se levanta entero sin contratar nada.</a:t>
            </a: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EscuelaIT Duoc UC - Escuela de Informática y Telecomunicaciones Duoc UC - Duoc  UC | LinkedIn" id="138" name="Google Shape;1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000000"/>
                </a:solidFill>
                <a:latin typeface="Calibri"/>
              </a:rPr>
              <a:t>Cronograma o Release Plan para el desarrollo del proyecto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2 de 2 · cierre del desarrollo y presentación</a:t>
            </a:r>
          </a:p>
        </p:txBody>
      </p:sp>
      <p:cxnSp>
        <p:nvCxnSpPr>
          <p:cNvPr id="141" name="Google Shape;14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684000" y="2448000"/>
          <a:ext cx="10835982" cy="273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4000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Fase 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9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10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Chat web: enlace único y widget embebible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Derivación humana y consola de agente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Dashboards y consumo de tokens por período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Set de preguntas de prueba por cliente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Documentación técnica y manual de usuario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Informe final, video y ensayo de la defensa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4B183"/>
                    </a:solidFill>
                  </a:tcPr>
                </a:tc>
              </a:tr>
            </a:tbl>
          </a:graphicData>
        </a:graphic>
      </p:graphicFrame>
      <p:sp>
        <p:nvSpPr>
          <p:cNvPr id="143" name="Rounded Rectangle 142"/>
          <p:cNvSpPr/>
          <p:nvPr/>
        </p:nvSpPr>
        <p:spPr>
          <a:xfrm>
            <a:off x="684000" y="5616000"/>
            <a:ext cx="108360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Hitos del ramo:  informe de avance el 16 de octubre (semana 10)  ·  informe final el 20 de noviembre (semana 15)  ·  defensa el 4 de diciembre de 2026 (semana 18).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