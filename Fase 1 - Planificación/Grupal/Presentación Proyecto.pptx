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5999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20000" y="720000"/>
            <a:ext cx="694800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pic>
        <p:nvPicPr>
          <p:cNvPr id="4" name="Picture 3" descr="Alloxentric-logo-ful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0" y="921600"/>
            <a:ext cx="2808000" cy="640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068000" y="954000"/>
            <a:ext cx="21600" cy="576000"/>
          </a:xfrm>
          <a:prstGeom prst="rect">
            <a:avLst/>
          </a:prstGeom>
          <a:solidFill>
            <a:srgbClr val="C8C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uoc-uc-escuela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6000" y="864000"/>
            <a:ext cx="3024000" cy="75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0000" y="2232000"/>
            <a:ext cx="10753200" cy="21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600" b="1">
                <a:solidFill>
                  <a:srgbClr val="FFFFFF"/>
                </a:solidFill>
                <a:latin typeface="Calibri"/>
              </a:rPr>
              <a:t>Chatbot de Soporte</a:t>
            </a:r>
          </a:p>
          <a:p>
            <a:pPr algn="l">
              <a:lnSpc>
                <a:spcPct val="95000"/>
              </a:lnSpc>
            </a:pPr>
            <a:r>
              <a:rPr sz="6600" b="1">
                <a:solidFill>
                  <a:srgbClr val="ADEA4B"/>
                </a:solidFill>
                <a:latin typeface="Calibri"/>
              </a:rPr>
              <a:t>Genérico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4356000"/>
            <a:ext cx="792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0">
                <a:solidFill>
                  <a:srgbClr val="82DBD8"/>
                </a:solidFill>
                <a:latin typeface="Calibri"/>
              </a:rPr>
              <a:t>Una sola plataforma de soporte conversacional</a:t>
            </a:r>
          </a:p>
          <a:p>
            <a:pPr algn="l"/>
            <a:r>
              <a:rPr sz="2300" b="0">
                <a:solidFill>
                  <a:srgbClr val="82DBD8"/>
                </a:solidFill>
                <a:latin typeface="Calibri"/>
              </a:rPr>
              <a:t>para todas las empresas cliente de Alloxentric.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" y="5472000"/>
            <a:ext cx="1080000" cy="36000"/>
          </a:xfrm>
          <a:prstGeom prst="rect">
            <a:avLst/>
          </a:prstGeom>
          <a:solidFill>
            <a:srgbClr val="0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5688000"/>
            <a:ext cx="93600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A1A9AC"/>
                </a:solidFill>
                <a:latin typeface="Calibri"/>
              </a:rPr>
              <a:t>Capstone APT122 · Grupo 2 · Duoc UC · Sede Antonio Varas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A1A9AC"/>
                </a:solidFill>
                <a:latin typeface="Calibri"/>
              </a:rPr>
              <a:t>Exequiel Alvarado · Diana Guerrero · Cristian Jorquera · Manuel Jansen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Atender a cada usuario cuesta caro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376000"/>
            <a:ext cx="6660000" cy="29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FFFF"/>
                </a:solidFill>
                <a:latin typeface="Calibri"/>
              </a:rPr>
              <a:t>Cada empresa que vende software tiene que responder las dudas de sus usuarios. Hacerlo con gente dedicada por producto no escala.</a:t>
            </a:r>
          </a:p>
          <a:p>
            <a:pPr algn="l">
              <a:lnSpc>
                <a:spcPct val="120000"/>
              </a:lnSpc>
              <a:spcBef>
                <a:spcPts val="1600"/>
              </a:spcBef>
            </a:pPr>
            <a:r>
              <a:rPr sz="2200" b="0">
                <a:solidFill>
                  <a:srgbClr val="A1A9AC"/>
                </a:solidFill>
                <a:latin typeface="Calibri"/>
              </a:rPr>
              <a:t>Y como cada empresa tiene su propia documentación, hoy la única salida es un desarrollo a medida por cliente.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6000" y="2304000"/>
            <a:ext cx="936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400" b="1">
                <a:solidFill>
                  <a:srgbClr val="E8B4DA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56000" y="2412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E7E9EA"/>
                </a:solidFill>
                <a:latin typeface="Calibri"/>
              </a:rPr>
              <a:t>desarrollo</a:t>
            </a:r>
          </a:p>
          <a:p>
            <a:pPr algn="l"/>
            <a:r>
              <a:rPr sz="1800" b="0">
                <a:solidFill>
                  <a:srgbClr val="E7E9EA"/>
                </a:solidFill>
                <a:latin typeface="Calibri"/>
              </a:rPr>
              <a:t>por cada cliente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6000" y="3600000"/>
            <a:ext cx="936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400" b="1">
                <a:solidFill>
                  <a:srgbClr val="E8B4DA"/>
                </a:solidFill>
                <a:latin typeface="Calibri"/>
              </a:rPr>
              <a:t>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6000" y="3708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E7E9EA"/>
                </a:solidFill>
                <a:latin typeface="Calibri"/>
              </a:rPr>
              <a:t>preguntas repetidas</a:t>
            </a:r>
          </a:p>
          <a:p>
            <a:pPr algn="l"/>
            <a:r>
              <a:rPr sz="1800" b="0">
                <a:solidFill>
                  <a:srgbClr val="E7E9EA"/>
                </a:solidFill>
                <a:latin typeface="Calibri"/>
              </a:rPr>
              <a:t>respondidas a mano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6000" y="4896000"/>
            <a:ext cx="936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400" b="1">
                <a:solidFill>
                  <a:srgbClr val="E8B4DA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6000" y="500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E7E9EA"/>
                </a:solidFill>
                <a:latin typeface="Calibri"/>
              </a:rPr>
              <a:t>conocimiento</a:t>
            </a:r>
          </a:p>
          <a:p>
            <a:pPr algn="l"/>
            <a:r>
              <a:rPr sz="1800" b="0">
                <a:solidFill>
                  <a:srgbClr val="E7E9EA"/>
                </a:solidFill>
                <a:latin typeface="Calibri"/>
              </a:rPr>
              <a:t>reutilizable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Una plataforma, todas las empresas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728000"/>
            <a:ext cx="107532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A1A9AC"/>
                </a:solidFill>
                <a:latin typeface="Calibri"/>
              </a:rPr>
              <a:t>El cliente carga su documentación. La plataforma le devuelve un chatbot que la sabe.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3024000"/>
            <a:ext cx="2472300" cy="230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2000" b="1">
                <a:solidFill>
                  <a:srgbClr val="ADEA4B"/>
                </a:solidFill>
                <a:latin typeface="Calibri"/>
              </a:rPr>
              <a:t>01</a:t>
            </a:r>
          </a:p>
          <a:p>
            <a:pPr algn="l">
              <a:spcBef>
                <a:spcPts val="100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Carga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800" b="0">
                <a:solidFill>
                  <a:srgbClr val="E7E9EA"/>
                </a:solidFill>
                <a:latin typeface="Calibri"/>
              </a:rPr>
              <a:t>Documentos, preguntas frecuentes y su sitio web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35499" y="4031999"/>
            <a:ext cx="201600" cy="288000"/>
          </a:xfrm>
          <a:prstGeom prst="right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80300" y="3024000"/>
            <a:ext cx="2472300" cy="230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049A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2000" b="1">
                <a:solidFill>
                  <a:srgbClr val="ADEA4B"/>
                </a:solidFill>
                <a:latin typeface="Calibri"/>
              </a:rPr>
              <a:t>02</a:t>
            </a:r>
          </a:p>
          <a:p>
            <a:pPr algn="l">
              <a:spcBef>
                <a:spcPts val="100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Indexa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800" b="0">
                <a:solidFill>
                  <a:srgbClr val="E7E9EA"/>
                </a:solidFill>
                <a:latin typeface="Calibri"/>
              </a:rPr>
              <a:t>Trocea y vectoriza por empresa y tipo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95800" y="4031999"/>
            <a:ext cx="201600" cy="288000"/>
          </a:xfrm>
          <a:prstGeom prst="right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0600" y="3024000"/>
            <a:ext cx="2472300" cy="230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2000" b="1">
                <a:solidFill>
                  <a:srgbClr val="ADEA4B"/>
                </a:solidFill>
                <a:latin typeface="Calibri"/>
              </a:rPr>
              <a:t>03</a:t>
            </a:r>
          </a:p>
          <a:p>
            <a:pPr algn="l">
              <a:spcBef>
                <a:spcPts val="100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Responde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800" b="0">
                <a:solidFill>
                  <a:srgbClr val="E7E9EA"/>
                </a:solidFill>
                <a:latin typeface="Calibri"/>
              </a:rPr>
              <a:t>Dos agentes RAG con DeepSeek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56100" y="4031999"/>
            <a:ext cx="201600" cy="288000"/>
          </a:xfrm>
          <a:prstGeom prst="right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000900" y="3024000"/>
            <a:ext cx="2472300" cy="230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049A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2000" b="1">
                <a:solidFill>
                  <a:srgbClr val="ADEA4B"/>
                </a:solidFill>
                <a:latin typeface="Calibri"/>
              </a:rPr>
              <a:t>04</a:t>
            </a:r>
          </a:p>
          <a:p>
            <a:pPr algn="l">
              <a:spcBef>
                <a:spcPts val="100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Deriva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800" b="0">
                <a:solidFill>
                  <a:srgbClr val="E7E9EA"/>
                </a:solidFill>
                <a:latin typeface="Calibri"/>
              </a:rPr>
              <a:t>A una persona cuando el bot no resuelve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MAPA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Los seis frentes del proyecto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2268000"/>
            <a:ext cx="3384000" cy="1332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0000" bIns="90000"/>
          <a:lstStyle/>
          <a:p>
            <a:pPr algn="l"/>
            <a:r>
              <a:rPr sz="1939" b="1">
                <a:solidFill>
                  <a:srgbClr val="06B7B2"/>
                </a:solidFill>
                <a:latin typeface="Calibri"/>
              </a:rPr>
              <a:t>Multi-tenancy</a:t>
            </a:r>
          </a:p>
          <a:p>
            <a:pPr algn="l">
              <a:lnSpc>
                <a:spcPct val="115000"/>
              </a:lnSpc>
              <a:spcBef>
                <a:spcPts val="580"/>
              </a:spcBef>
            </a:pPr>
            <a:r>
              <a:rPr sz="1650" b="0">
                <a:solidFill>
                  <a:srgbClr val="E7E9EA"/>
                </a:solidFill>
                <a:latin typeface="Calibri"/>
              </a:rPr>
              <a:t>Toda tabla marcada por empresa · tres roles · pruebas de aislamiento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4104000" y="2919600"/>
            <a:ext cx="287999" cy="28800"/>
          </a:xfrm>
          <a:prstGeom prst="rect">
            <a:avLst/>
          </a:prstGeom>
          <a:solidFill>
            <a:srgbClr val="435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20000" y="3600000"/>
            <a:ext cx="3384000" cy="1332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0000" bIns="90000"/>
          <a:lstStyle/>
          <a:p>
            <a:pPr algn="l"/>
            <a:r>
              <a:rPr sz="2000" b="1">
                <a:solidFill>
                  <a:srgbClr val="ADEA4B"/>
                </a:solidFill>
                <a:latin typeface="Calibri"/>
              </a:rPr>
              <a:t>Ingesta de conocimiento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Documentos · preguntas frecuentes · escaneo del sitio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4000" y="4251600"/>
            <a:ext cx="287999" cy="28800"/>
          </a:xfrm>
          <a:prstGeom prst="rect">
            <a:avLst/>
          </a:prstGeom>
          <a:solidFill>
            <a:srgbClr val="435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0000" y="4932000"/>
            <a:ext cx="3384000" cy="1332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0000" bIns="90000"/>
          <a:lstStyle/>
          <a:p>
            <a:pPr algn="l"/>
            <a:r>
              <a:rPr sz="1939" b="1">
                <a:solidFill>
                  <a:srgbClr val="06B7B2"/>
                </a:solidFill>
                <a:latin typeface="Calibri"/>
              </a:rPr>
              <a:t>Motor RAG</a:t>
            </a:r>
          </a:p>
          <a:p>
            <a:pPr algn="l">
              <a:lnSpc>
                <a:spcPct val="115000"/>
              </a:lnSpc>
              <a:spcBef>
                <a:spcPts val="580"/>
              </a:spcBef>
            </a:pPr>
            <a:r>
              <a:rPr sz="1650" b="0">
                <a:solidFill>
                  <a:srgbClr val="E7E9EA"/>
                </a:solidFill>
                <a:latin typeface="Calibri"/>
              </a:rPr>
              <a:t>Clasificador · dos agentes · DeepSeek con clave por empresa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04000" y="5583600"/>
            <a:ext cx="287999" cy="28800"/>
          </a:xfrm>
          <a:prstGeom prst="rect">
            <a:avLst/>
          </a:prstGeom>
          <a:solidFill>
            <a:srgbClr val="435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89200" y="2268000"/>
            <a:ext cx="3384000" cy="1332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0000" bIns="90000"/>
          <a:lstStyle/>
          <a:p>
            <a:pPr algn="l"/>
            <a:r>
              <a:rPr sz="1939" b="1">
                <a:solidFill>
                  <a:srgbClr val="ADEA4B"/>
                </a:solidFill>
                <a:latin typeface="Calibri"/>
              </a:rPr>
              <a:t>Canales de atención</a:t>
            </a:r>
          </a:p>
          <a:p>
            <a:pPr algn="l">
              <a:lnSpc>
                <a:spcPct val="115000"/>
              </a:lnSpc>
              <a:spcBef>
                <a:spcPts val="580"/>
              </a:spcBef>
            </a:pPr>
            <a:r>
              <a:rPr sz="1650" b="0">
                <a:solidFill>
                  <a:srgbClr val="E7E9EA"/>
                </a:solidFill>
                <a:latin typeface="Calibri"/>
              </a:rPr>
              <a:t>Enlace único · widget · WhatsApp · en el idioma del usuario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6000" y="2919600"/>
            <a:ext cx="313199" cy="28800"/>
          </a:xfrm>
          <a:prstGeom prst="rect">
            <a:avLst/>
          </a:prstGeom>
          <a:solidFill>
            <a:srgbClr val="435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89200" y="3600000"/>
            <a:ext cx="3384000" cy="1332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0000" bIns="90000"/>
          <a:lstStyle/>
          <a:p>
            <a:pPr algn="l"/>
            <a:r>
              <a:rPr sz="2000" b="1">
                <a:solidFill>
                  <a:srgbClr val="06B7B2"/>
                </a:solidFill>
                <a:latin typeface="Calibri"/>
              </a:rPr>
              <a:t>Derivación a humano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Chat en vivo o ticket · consola con respuestas sugeridas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6000" y="4251600"/>
            <a:ext cx="313199" cy="28800"/>
          </a:xfrm>
          <a:prstGeom prst="rect">
            <a:avLst/>
          </a:prstGeom>
          <a:solidFill>
            <a:srgbClr val="435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89200" y="4932000"/>
            <a:ext cx="3384000" cy="1332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0000" bIns="90000"/>
          <a:lstStyle/>
          <a:p>
            <a:pPr algn="l"/>
            <a:r>
              <a:rPr sz="2000" b="1">
                <a:solidFill>
                  <a:srgbClr val="ADEA4B"/>
                </a:solidFill>
                <a:latin typeface="Calibri"/>
              </a:rPr>
              <a:t>Administración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Dashboards y consumo · tres idiomas · claro y oscuro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6000" y="5583600"/>
            <a:ext cx="313199" cy="28800"/>
          </a:xfrm>
          <a:prstGeom prst="rect">
            <a:avLst/>
          </a:prstGeom>
          <a:solidFill>
            <a:srgbClr val="435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92000" y="3600000"/>
            <a:ext cx="3384000" cy="1332000"/>
          </a:xfrm>
          <a:prstGeom prst="roundRect">
            <a:avLst>
              <a:gd name="adj" fmla="val 6000"/>
            </a:avLst>
          </a:prstGeom>
          <a:solidFill>
            <a:srgbClr val="046B74"/>
          </a:solidFill>
          <a:ln w="3175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0000" bIns="900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Chatbot de Soporte</a:t>
            </a:r>
          </a:p>
          <a:p>
            <a:pPr algn="ctr"/>
            <a:r>
              <a:rPr sz="2400" b="1">
                <a:solidFill>
                  <a:srgbClr val="ADEA4B"/>
                </a:solidFill>
                <a:latin typeface="Calibri"/>
              </a:rPr>
              <a:t>Genérico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rgbClr val="82DBD8"/>
                </a:solidFill>
                <a:latin typeface="Calibri"/>
              </a:rPr>
              <a:t>Plataforma multi-tenant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6000" y="2934000"/>
            <a:ext cx="28800" cy="2664000"/>
          </a:xfrm>
          <a:prstGeom prst="rect">
            <a:avLst/>
          </a:prstGeom>
          <a:solidFill>
            <a:srgbClr val="435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3200" y="2934000"/>
            <a:ext cx="28800" cy="2664000"/>
          </a:xfrm>
          <a:prstGeom prst="rect">
            <a:avLst/>
          </a:prstGeom>
          <a:solidFill>
            <a:srgbClr val="435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Qué pasa cuando alguien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2664000"/>
            <a:ext cx="2283300" cy="129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49A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Usuario</a:t>
            </a:r>
          </a:p>
          <a:p>
            <a:pPr algn="ctr">
              <a:spcBef>
                <a:spcPts val="6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escribe en su idioma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11300" y="3186000"/>
            <a:ext cx="324000" cy="251999"/>
          </a:xfrm>
          <a:prstGeom prst="right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43300" y="2664000"/>
            <a:ext cx="2283300" cy="129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Clasificador</a:t>
            </a:r>
          </a:p>
          <a:p>
            <a:pPr algn="ctr">
              <a:spcBef>
                <a:spcPts val="6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¿técnica o comercial?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34600" y="3186000"/>
            <a:ext cx="324000" cy="251999"/>
          </a:xfrm>
          <a:prstGeom prst="rightArrow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66600" y="2664000"/>
            <a:ext cx="2283300" cy="129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Agente</a:t>
            </a:r>
          </a:p>
          <a:p>
            <a:pPr algn="ctr">
              <a:spcBef>
                <a:spcPts val="6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busca en su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57899" y="3186000"/>
            <a:ext cx="324000" cy="251999"/>
          </a:xfrm>
          <a:prstGeom prst="rightArrow">
            <a:avLst/>
          </a:prstGeom>
          <a:solidFill>
            <a:srgbClr val="0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89899" y="2664000"/>
            <a:ext cx="2283300" cy="129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49A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Respuesta</a:t>
            </a:r>
          </a:p>
          <a:p>
            <a:pPr algn="ctr">
              <a:spcBef>
                <a:spcPts val="6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citando la fuente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000" y="4428000"/>
            <a:ext cx="10753200" cy="1404000"/>
          </a:xfrm>
          <a:prstGeom prst="roundRect">
            <a:avLst>
              <a:gd name="adj" fmla="val 6000"/>
            </a:avLst>
          </a:prstGeom>
          <a:noFill/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2200" b="1">
                <a:solidFill>
                  <a:srgbClr val="ADEA4B"/>
                </a:solidFill>
                <a:latin typeface="Calibri"/>
              </a:rPr>
              <a:t>Si no resuelve en dos intentos, o el usuario lo pide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100" b="0">
                <a:solidFill>
                  <a:srgbClr val="E7E9EA"/>
                </a:solidFill>
                <a:latin typeface="Calibri"/>
              </a:rPr>
              <a:t>pasa a una persona: chat en vivo si hay alguien disponible del tipo correcto, o queda como ticket si no lo hay.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6318000"/>
            <a:ext cx="98171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A1A9AC"/>
                </a:solidFill>
                <a:latin typeface="Calibri"/>
              </a:rPr>
              <a:t>El bot responde siempre en el idioma en que le escriben: español, inglés o portugués.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LOS AGENTES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No es un bot: son 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728000"/>
            <a:ext cx="107532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A1A9AC"/>
                </a:solidFill>
                <a:latin typeface="Calibri"/>
              </a:rPr>
              <a:t>Cada empresa configura su agente técnico y su agente comercial por separado.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2951999"/>
            <a:ext cx="5196600" cy="2448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3400" b="1">
                <a:solidFill>
                  <a:srgbClr val="06B7B2"/>
                </a:solidFill>
                <a:latin typeface="Calibri"/>
              </a:rPr>
              <a:t>Técnico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Resuelve problemas de uso del producto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E7E9EA"/>
                </a:solidFill>
                <a:latin typeface="Calibri"/>
              </a:rPr>
              <a:t>·  Manuales y guías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E7E9EA"/>
                </a:solidFill>
                <a:latin typeface="Calibri"/>
              </a:rPr>
              <a:t>·  Preguntas frecuentes técnicas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E7E9EA"/>
                </a:solidFill>
                <a:latin typeface="Calibri"/>
              </a:rPr>
              <a:t>·  Documentación del sitio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6600" y="2951999"/>
            <a:ext cx="5196600" cy="2448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3300" b="1">
                <a:solidFill>
                  <a:srgbClr val="ADEA4B"/>
                </a:solidFill>
                <a:latin typeface="Calibri"/>
              </a:rPr>
              <a:t>Comercial</a:t>
            </a:r>
          </a:p>
          <a:p>
            <a:pPr algn="l">
              <a:spcBef>
                <a:spcPts val="780"/>
              </a:spcBef>
            </a:pPr>
            <a:r>
              <a:rPr sz="1839" b="0">
                <a:solidFill>
                  <a:srgbClr val="E7E9EA"/>
                </a:solidFill>
                <a:latin typeface="Calibri"/>
              </a:rPr>
              <a:t>Responde por planes, precios y contratación</a:t>
            </a:r>
          </a:p>
          <a:p>
            <a:pPr algn="l">
              <a:spcBef>
                <a:spcPts val="580"/>
              </a:spcBef>
            </a:pPr>
            <a:r>
              <a:rPr sz="1750" b="0">
                <a:solidFill>
                  <a:srgbClr val="E7E9EA"/>
                </a:solidFill>
                <a:latin typeface="Calibri"/>
              </a:rPr>
              <a:t>·  Planes y precios</a:t>
            </a:r>
          </a:p>
          <a:p>
            <a:pPr algn="l">
              <a:spcBef>
                <a:spcPts val="580"/>
              </a:spcBef>
            </a:pPr>
            <a:r>
              <a:rPr sz="1750" b="0">
                <a:solidFill>
                  <a:srgbClr val="E7E9EA"/>
                </a:solidFill>
                <a:latin typeface="Calibri"/>
              </a:rPr>
              <a:t>·  Condiciones comerciales</a:t>
            </a:r>
          </a:p>
          <a:p>
            <a:pPr algn="l">
              <a:spcBef>
                <a:spcPts val="580"/>
              </a:spcBef>
            </a:pPr>
            <a:r>
              <a:rPr sz="1750" b="0">
                <a:solidFill>
                  <a:srgbClr val="E7E9EA"/>
                </a:solidFill>
                <a:latin typeface="Calibri"/>
              </a:rPr>
              <a:t>·  Se puede desactivar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6318000"/>
            <a:ext cx="98171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A1A9AC"/>
                </a:solidFill>
                <a:latin typeface="Calibri"/>
              </a:rPr>
              <a:t>Cada uno con su nombre, sus temas, sus instrucciones y sus propias fuentes de conocimiento.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CASOS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Quién usa qué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00" y="2231999"/>
            <a:ext cx="6300000" cy="4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pic>
        <p:nvPicPr>
          <p:cNvPr id="6" name="Picture 5" descr="02-casos-de-u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76000"/>
            <a:ext cx="6012000" cy="3744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272000" y="2376000"/>
            <a:ext cx="4201200" cy="90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0000" bIns="90000"/>
          <a:lstStyle/>
          <a:p>
            <a:pPr algn="l"/>
            <a:r>
              <a:rPr sz="1900" b="1">
                <a:solidFill>
                  <a:srgbClr val="ADEA4B"/>
                </a:solidFill>
                <a:latin typeface="Calibri"/>
              </a:rPr>
              <a:t>Usuario final</a:t>
            </a:r>
          </a:p>
          <a:p>
            <a:pPr algn="l">
              <a:spcBef>
                <a:spcPts val="5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Consulta, pide ayuda y valora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2000" y="3330000"/>
            <a:ext cx="4201200" cy="90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0000" bIns="90000"/>
          <a:lstStyle/>
          <a:p>
            <a:pPr algn="l"/>
            <a:r>
              <a:rPr sz="1900" b="1">
                <a:solidFill>
                  <a:srgbClr val="06B7B2"/>
                </a:solidFill>
                <a:latin typeface="Calibri"/>
              </a:rPr>
              <a:t>Admin. de empresa</a:t>
            </a:r>
          </a:p>
          <a:p>
            <a:pPr algn="l">
              <a:spcBef>
                <a:spcPts val="5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Carga conocimiento y configura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72000" y="4283999"/>
            <a:ext cx="4201200" cy="90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0000" bIns="90000"/>
          <a:lstStyle/>
          <a:p>
            <a:pPr algn="l"/>
            <a:r>
              <a:rPr sz="1900" b="1">
                <a:solidFill>
                  <a:srgbClr val="06B7B2"/>
                </a:solidFill>
                <a:latin typeface="Calibri"/>
              </a:rPr>
              <a:t>Agente humano</a:t>
            </a:r>
          </a:p>
          <a:p>
            <a:pPr algn="l">
              <a:spcBef>
                <a:spcPts val="5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Atiende lo derivado y los tickets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72000" y="5238000"/>
            <a:ext cx="4201200" cy="90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0000" bIns="90000"/>
          <a:lstStyle/>
          <a:p>
            <a:pPr algn="l"/>
            <a:r>
              <a:rPr sz="1900" b="1">
                <a:solidFill>
                  <a:srgbClr val="ADEA4B"/>
                </a:solidFill>
                <a:latin typeface="Calibri"/>
              </a:rPr>
              <a:t>Admin. de plataforma</a:t>
            </a:r>
          </a:p>
          <a:p>
            <a:pPr algn="l">
              <a:spcBef>
                <a:spcPts val="5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Ve actividad y consumo de todas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6318000"/>
            <a:ext cx="98171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A1A9AC"/>
                </a:solidFill>
                <a:latin typeface="Calibri"/>
              </a:rPr>
              <a:t>El diagrama marca WhatsApp como roadmap; en el sistema entregado ya está implementado.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LA APLICACIÓN · 1 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Módulo de administración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00" y="2160000"/>
            <a:ext cx="7092000" cy="45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pic>
        <p:nvPicPr>
          <p:cNvPr id="6" name="Picture 5" descr="04-mockup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04000"/>
            <a:ext cx="6803999" cy="4248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992000" y="2304000"/>
            <a:ext cx="3481200" cy="90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72000" bIns="72000"/>
          <a:lstStyle/>
          <a:p>
            <a:pPr algn="l"/>
            <a:r>
              <a:rPr sz="1800" b="1">
                <a:solidFill>
                  <a:srgbClr val="ADEA4B"/>
                </a:solidFill>
                <a:latin typeface="Calibri"/>
              </a:rPr>
              <a:t>Cada documento, a su chat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E7E9EA"/>
                </a:solidFill>
                <a:latin typeface="Calibri"/>
              </a:rPr>
              <a:t>Técnico, comercial o ambos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2000" y="3294000"/>
            <a:ext cx="3481200" cy="90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72000" bIns="72000"/>
          <a:lstStyle/>
          <a:p>
            <a:pPr algn="l"/>
            <a:r>
              <a:rPr sz="1800" b="1">
                <a:solidFill>
                  <a:srgbClr val="ADEA4B"/>
                </a:solidFill>
                <a:latin typeface="Calibri"/>
              </a:rPr>
              <a:t>Estado de indexación visible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E7E9EA"/>
                </a:solidFill>
                <a:latin typeface="Calibri"/>
              </a:rPr>
              <a:t>Indexado, procesando o error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92000" y="4284000"/>
            <a:ext cx="3481200" cy="90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72000" bIns="72000"/>
          <a:lstStyle/>
          <a:p>
            <a:pPr algn="l"/>
            <a:r>
              <a:rPr sz="1800" b="1">
                <a:solidFill>
                  <a:srgbClr val="ADEA4B"/>
                </a:solidFill>
                <a:latin typeface="Calibri"/>
              </a:rPr>
              <a:t>Escaneo del sitio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E7E9EA"/>
                </a:solidFill>
                <a:latin typeface="Calibri"/>
              </a:rPr>
              <a:t>Un botón, sin salir de aquí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2000" y="5274000"/>
            <a:ext cx="3481200" cy="90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72000" bIns="72000"/>
          <a:lstStyle/>
          <a:p>
            <a:pPr algn="l"/>
            <a:r>
              <a:rPr sz="1800" b="1">
                <a:solidFill>
                  <a:srgbClr val="ADEA4B"/>
                </a:solidFill>
                <a:latin typeface="Calibri"/>
              </a:rPr>
              <a:t>Siempre en una empresa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E7E9EA"/>
                </a:solidFill>
                <a:latin typeface="Calibri"/>
              </a:rPr>
              <a:t>El selector de arriba la cambia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LA APLICACIÓN · 2 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Chat de soporte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96000" y="2160000"/>
            <a:ext cx="2419200" cy="45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pic>
        <p:nvPicPr>
          <p:cNvPr id="6" name="Picture 5" descr="05-mockup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0" y="2304000"/>
            <a:ext cx="2131200" cy="4248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464000" y="2304000"/>
            <a:ext cx="7009200" cy="72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54000" bIns="54000"/>
          <a:lstStyle/>
          <a:p>
            <a:pPr algn="l"/>
            <a:r>
              <a:rPr sz="1900" b="1">
                <a:solidFill>
                  <a:srgbClr val="82DBD8"/>
                </a:solidFill>
                <a:latin typeface="Calibri"/>
              </a:rPr>
              <a:t>Un enlace único por empresa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soporte.allox.ai con el nombre del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4000" y="3096000"/>
            <a:ext cx="7009200" cy="72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54000" bIns="54000"/>
          <a:lstStyle/>
          <a:p>
            <a:pPr algn="l"/>
            <a:r>
              <a:rPr sz="1900" b="1">
                <a:solidFill>
                  <a:srgbClr val="82DBD8"/>
                </a:solidFill>
                <a:latin typeface="Calibri"/>
              </a:rPr>
              <a:t>Widget embebible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Una línea de código en el sitio del cliente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4000" y="3888000"/>
            <a:ext cx="7009200" cy="72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54000" bIns="54000"/>
          <a:lstStyle/>
          <a:p>
            <a:pPr algn="l"/>
            <a:r>
              <a:rPr sz="1900" b="1">
                <a:solidFill>
                  <a:srgbClr val="82DBD8"/>
                </a:solidFill>
                <a:latin typeface="Calibri"/>
              </a:rPr>
              <a:t>Responde en el idioma del usuario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Español, inglés o portugués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4000" y="4680000"/>
            <a:ext cx="7009200" cy="72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54000" bIns="54000"/>
          <a:lstStyle/>
          <a:p>
            <a:pPr algn="l"/>
            <a:r>
              <a:rPr sz="1900" b="1">
                <a:solidFill>
                  <a:srgbClr val="82DBD8"/>
                </a:solidFill>
                <a:latin typeface="Calibri"/>
              </a:rPr>
              <a:t>Cita la fuente de la respuesta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Del documento del que la sacó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4000" y="5472000"/>
            <a:ext cx="7009200" cy="72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54000" bIns="54000"/>
          <a:lstStyle/>
          <a:p>
            <a:pPr algn="l"/>
            <a:r>
              <a:rPr sz="1900" b="1">
                <a:solidFill>
                  <a:srgbClr val="82DBD8"/>
                </a:solidFill>
                <a:latin typeface="Calibri"/>
              </a:rPr>
              <a:t>Deriva a una persona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En vivo si hay alguien, o como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LA APLICACIÓN · 3 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Consola de agente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2268000"/>
            <a:ext cx="10753200" cy="4176000"/>
          </a:xfrm>
          <a:prstGeom prst="roundRect">
            <a:avLst>
              <a:gd name="adj" fmla="val 6000"/>
            </a:avLst>
          </a:prstGeom>
          <a:solidFill>
            <a:srgbClr val="1A2A32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2268000"/>
            <a:ext cx="10753200" cy="21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6000" y="2430000"/>
            <a:ext cx="50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Consola de agente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64000" y="2412000"/>
            <a:ext cx="1404000" cy="324000"/>
          </a:xfrm>
          <a:prstGeom prst="roundRect">
            <a:avLst>
              <a:gd name="adj" fmla="val 6000"/>
            </a:avLst>
          </a:prstGeom>
          <a:solidFill>
            <a:srgbClr val="1B3A33"/>
          </a:solidFill>
          <a:ln w="127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ctr"/>
            <a:r>
              <a:rPr sz="1400" b="1">
                <a:solidFill>
                  <a:srgbClr val="ADEA4B"/>
                </a:solidFill>
                <a:latin typeface="Calibri"/>
              </a:rPr>
              <a:t>Disponible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2880000"/>
            <a:ext cx="2951999" cy="3348000"/>
          </a:xfrm>
          <a:prstGeom prst="roundRect">
            <a:avLst>
              <a:gd name="adj" fmla="val 6000"/>
            </a:avLst>
          </a:prstGeom>
          <a:solidFill>
            <a:srgbClr val="24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6000" y="3006000"/>
            <a:ext cx="2592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DEA4B"/>
                </a:solidFill>
                <a:latin typeface="Calibri"/>
              </a:rPr>
              <a:t>EN VIVO ·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16000" y="3294000"/>
            <a:ext cx="2592000" cy="558000"/>
          </a:xfrm>
          <a:prstGeom prst="roundRect">
            <a:avLst>
              <a:gd name="adj" fmla="val 6000"/>
            </a:avLst>
          </a:prstGeom>
          <a:solidFill>
            <a:srgbClr val="1A2A32"/>
          </a:solidFill>
          <a:ln w="127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36000" bIns="36000"/>
          <a:lstStyle/>
          <a:p>
            <a:pPr algn="l"/>
            <a:r>
              <a:rPr sz="1400" b="1">
                <a:solidFill>
                  <a:srgbClr val="ADEA4B"/>
                </a:solidFill>
                <a:latin typeface="Calibri"/>
              </a:rPr>
              <a:t>WellQ · técnico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E7E9EA"/>
                </a:solidFill>
                <a:latin typeface="Calibri"/>
              </a:rPr>
              <a:t>No puede subir un examen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16000" y="3924000"/>
            <a:ext cx="2592000" cy="558000"/>
          </a:xfrm>
          <a:prstGeom prst="roundRect">
            <a:avLst>
              <a:gd name="adj" fmla="val 6000"/>
            </a:avLst>
          </a:prstGeom>
          <a:solidFill>
            <a:srgbClr val="1A2A32"/>
          </a:solidFill>
          <a:ln w="1270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36000" bIns="36000"/>
          <a:lstStyle/>
          <a:p>
            <a:pPr algn="l"/>
            <a:r>
              <a:rPr sz="1400" b="1">
                <a:solidFill>
                  <a:srgbClr val="06B7B2"/>
                </a:solidFill>
                <a:latin typeface="Calibri"/>
              </a:rPr>
              <a:t>Directa · comercial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E7E9EA"/>
                </a:solidFill>
                <a:latin typeface="Calibri"/>
              </a:rPr>
              <a:t>Pregunta por el plan anual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6000" y="4554000"/>
            <a:ext cx="2592000" cy="558000"/>
          </a:xfrm>
          <a:prstGeom prst="roundRect">
            <a:avLst>
              <a:gd name="adj" fmla="val 6000"/>
            </a:avLst>
          </a:prstGeom>
          <a:solidFill>
            <a:srgbClr val="1A2A32"/>
          </a:solidFill>
          <a:ln w="127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36000" bIns="36000"/>
          <a:lstStyle/>
          <a:p>
            <a:pPr algn="l"/>
            <a:r>
              <a:rPr sz="1400" b="1">
                <a:solidFill>
                  <a:srgbClr val="ADEA4B"/>
                </a:solidFill>
                <a:latin typeface="Calibri"/>
              </a:rPr>
              <a:t>Alloxentric · técnico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E7E9EA"/>
                </a:solidFill>
                <a:latin typeface="Calibri"/>
              </a:rPr>
              <a:t>Error 415 al adjuntar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5256000"/>
            <a:ext cx="2592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1A9AC"/>
                </a:solidFill>
                <a:latin typeface="Calibri"/>
              </a:rPr>
              <a:t>TICKETS · 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6000" y="5526000"/>
            <a:ext cx="2592000" cy="306000"/>
          </a:xfrm>
          <a:prstGeom prst="roundRect">
            <a:avLst>
              <a:gd name="adj" fmla="val 6000"/>
            </a:avLst>
          </a:prstGeom>
          <a:solidFill>
            <a:srgbClr val="1A2A32"/>
          </a:solidFill>
          <a:ln w="12700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28800" bIns="28800"/>
          <a:lstStyle/>
          <a:p>
            <a:pPr algn="l"/>
            <a:r>
              <a:rPr sz="1300" b="0">
                <a:solidFill>
                  <a:srgbClr val="A1A9AC"/>
                </a:solidFill>
                <a:latin typeface="Calibri"/>
              </a:rPr>
              <a:t>Dani27001 — fuera de horario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6000" y="5886000"/>
            <a:ext cx="2592000" cy="306000"/>
          </a:xfrm>
          <a:prstGeom prst="roundRect">
            <a:avLst>
              <a:gd name="adj" fmla="val 6000"/>
            </a:avLst>
          </a:prstGeom>
          <a:solidFill>
            <a:srgbClr val="1A2A32"/>
          </a:solidFill>
          <a:ln w="12700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28800" bIns="28800"/>
          <a:lstStyle/>
          <a:p>
            <a:pPr algn="l"/>
            <a:r>
              <a:rPr sz="1300" b="0">
                <a:solidFill>
                  <a:srgbClr val="A1A9AC"/>
                </a:solidFill>
                <a:latin typeface="Calibri"/>
              </a:rPr>
              <a:t>WellQ — sin agente libre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76000" y="2880000"/>
            <a:ext cx="4428000" cy="3348000"/>
          </a:xfrm>
          <a:prstGeom prst="roundRect">
            <a:avLst>
              <a:gd name="adj" fmla="val 6000"/>
            </a:avLst>
          </a:prstGeom>
          <a:solidFill>
            <a:srgbClr val="24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56000" y="3006000"/>
            <a:ext cx="4068000" cy="342000"/>
          </a:xfrm>
          <a:prstGeom prst="roundRect">
            <a:avLst>
              <a:gd name="adj" fmla="val 6000"/>
            </a:avLst>
          </a:prstGeom>
          <a:solidFill>
            <a:srgbClr val="3A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28800" bIns="28800"/>
          <a:lstStyle/>
          <a:p>
            <a:pPr algn="l"/>
            <a:r>
              <a:rPr sz="1400" b="1">
                <a:solidFill>
                  <a:srgbClr val="E0A34C"/>
                </a:solidFill>
                <a:latin typeface="Calibri"/>
              </a:rPr>
              <a:t>Derivada: el bot no resolvió en 2 intentos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6000" y="3456000"/>
            <a:ext cx="3096000" cy="630000"/>
          </a:xfrm>
          <a:prstGeom prst="roundRect">
            <a:avLst>
              <a:gd name="adj" fmla="val 6000"/>
            </a:avLst>
          </a:prstGeom>
          <a:solidFill>
            <a:srgbClr val="046B74"/>
          </a:solidFill>
          <a:ln w="952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54000" bIns="54000"/>
          <a:lstStyle/>
          <a:p>
            <a:pPr algn="l"/>
            <a:r>
              <a:rPr sz="1200" b="1">
                <a:solidFill>
                  <a:srgbClr val="A1A9AC"/>
                </a:solidFill>
                <a:latin typeface="Calibri"/>
              </a:rPr>
              <a:t>Usuario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Subo el examen y da error 415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88000" y="4157999"/>
            <a:ext cx="3096000" cy="630000"/>
          </a:xfrm>
          <a:prstGeom prst="roundRect">
            <a:avLst>
              <a:gd name="adj" fmla="val 6000"/>
            </a:avLst>
          </a:prstGeom>
          <a:solidFill>
            <a:srgbClr val="1A2A32"/>
          </a:solidFill>
          <a:ln w="952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54000" bIns="54000"/>
          <a:lstStyle/>
          <a:p>
            <a:pPr algn="l"/>
            <a:r>
              <a:rPr sz="1200" b="1">
                <a:solidFill>
                  <a:srgbClr val="A1A9AC"/>
                </a:solidFill>
                <a:latin typeface="Calibri"/>
              </a:rPr>
              <a:t>Bot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E7E9EA"/>
                </a:solidFill>
                <a:latin typeface="Calibri"/>
              </a:rPr>
              <a:t>Debe ser PDF, JPG o PNG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6000" y="4859999"/>
            <a:ext cx="3096000" cy="630000"/>
          </a:xfrm>
          <a:prstGeom prst="roundRect">
            <a:avLst>
              <a:gd name="adj" fmla="val 6000"/>
            </a:avLst>
          </a:prstGeom>
          <a:solidFill>
            <a:srgbClr val="046B74"/>
          </a:solidFill>
          <a:ln w="952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54000" bIns="54000"/>
          <a:lstStyle/>
          <a:p>
            <a:pPr algn="l"/>
            <a:r>
              <a:rPr sz="1200" b="1">
                <a:solidFill>
                  <a:srgbClr val="A1A9AC"/>
                </a:solidFill>
                <a:latin typeface="Calibri"/>
              </a:rPr>
              <a:t>Usuario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Es un PDF de 12 MB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6000" y="5616000"/>
            <a:ext cx="4068000" cy="468000"/>
          </a:xfrm>
          <a:prstGeom prst="roundRect">
            <a:avLst>
              <a:gd name="adj" fmla="val 6000"/>
            </a:avLst>
          </a:prstGeom>
          <a:solidFill>
            <a:srgbClr val="1A2A32"/>
          </a:solidFill>
          <a:ln w="1270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54000" bIns="54000"/>
          <a:lstStyle/>
          <a:p>
            <a:pPr algn="l"/>
            <a:r>
              <a:rPr sz="1400" b="0">
                <a:solidFill>
                  <a:srgbClr val="A1A9AC"/>
                </a:solidFill>
                <a:latin typeface="Calibri"/>
              </a:rPr>
              <a:t>Escribe tu respuesta…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6000" y="2880000"/>
            <a:ext cx="2401200" cy="3348000"/>
          </a:xfrm>
          <a:prstGeom prst="roundRect">
            <a:avLst>
              <a:gd name="adj" fmla="val 6000"/>
            </a:avLst>
          </a:prstGeom>
          <a:solidFill>
            <a:srgbClr val="24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0000" y="3006000"/>
            <a:ext cx="2124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82DBD8"/>
                </a:solidFill>
                <a:latin typeface="Calibri"/>
              </a:rPr>
              <a:t>CONTEXTO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0000" y="3276000"/>
            <a:ext cx="212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7E9EA"/>
                </a:solidFill>
                <a:latin typeface="Calibri"/>
              </a:rPr>
              <a:t>Empresa: WellQ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0000" y="3581999"/>
            <a:ext cx="212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7E9EA"/>
                </a:solidFill>
                <a:latin typeface="Calibri"/>
              </a:rPr>
              <a:t>Plan: Premium anual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0000" y="3887999"/>
            <a:ext cx="212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7E9EA"/>
                </a:solidFill>
                <a:latin typeface="Calibri"/>
              </a:rPr>
              <a:t>Sentimiento: Frustrado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0000" y="4284000"/>
            <a:ext cx="2124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DEA4B"/>
                </a:solidFill>
                <a:latin typeface="Calibri"/>
              </a:rPr>
              <a:t>SUGERIDAS POR RAG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00000" y="4554000"/>
            <a:ext cx="2124000" cy="756000"/>
          </a:xfrm>
          <a:prstGeom prst="roundRect">
            <a:avLst>
              <a:gd name="adj" fmla="val 6000"/>
            </a:avLst>
          </a:prstGeom>
          <a:solidFill>
            <a:srgbClr val="1A2A32"/>
          </a:solidFill>
          <a:ln w="127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54000" bIns="54000"/>
          <a:lstStyle/>
          <a:p>
            <a:pPr algn="l"/>
            <a:r>
              <a:rPr sz="1250" b="0">
                <a:solidFill>
                  <a:srgbClr val="E7E9EA"/>
                </a:solidFill>
                <a:latin typeface="Calibri"/>
              </a:rPr>
              <a:t>Los PDF firmados pesan más de lo declarado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ADEA4B"/>
                </a:solidFill>
                <a:latin typeface="Calibri"/>
              </a:rPr>
              <a:t>Guía de instalación v3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0000" y="5382000"/>
            <a:ext cx="2124000" cy="756000"/>
          </a:xfrm>
          <a:prstGeom prst="roundRect">
            <a:avLst>
              <a:gd name="adj" fmla="val 6000"/>
            </a:avLst>
          </a:prstGeom>
          <a:solidFill>
            <a:srgbClr val="1A2A32"/>
          </a:solidFill>
          <a:ln w="127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54000" bIns="54000"/>
          <a:lstStyle/>
          <a:p>
            <a:pPr algn="l"/>
            <a:r>
              <a:rPr sz="1250" b="0">
                <a:solidFill>
                  <a:srgbClr val="E7E9EA"/>
                </a:solidFill>
                <a:latin typeface="Calibri"/>
              </a:rPr>
              <a:t>Prueba comprimir el archivo antes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ADEA4B"/>
                </a:solidFill>
                <a:latin typeface="Calibri"/>
              </a:rPr>
              <a:t>Manual de usuario WellQ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0000" y="6318000"/>
            <a:ext cx="98171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A1A9AC"/>
                </a:solidFill>
                <a:latin typeface="Calibri"/>
              </a:rPr>
              <a:t>Reconstruida del wireframe funcional: es la única de las tres interfaces sin export de Figma.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MULTI-TENANT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Cuatro clientes, una implementación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728000"/>
            <a:ext cx="107532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A1A9AC"/>
                </a:solidFill>
                <a:latin typeface="Calibri"/>
              </a:rPr>
              <a:t>Cada empresa con su base de conocimiento, su clave, sus agentes y su enlace de chat.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3096000"/>
            <a:ext cx="2499299" cy="2015999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2600" b="1">
                <a:solidFill>
                  <a:srgbClr val="ADEA4B"/>
                </a:solidFill>
                <a:latin typeface="Calibri"/>
              </a:rPr>
              <a:t>WellQ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82DBD8"/>
                </a:solidFill>
                <a:latin typeface="Calibri"/>
              </a:rPr>
              <a:t>Salud y bienestar · Reino Unido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Usuarios no técnicos, inglés y español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1299" y="3096000"/>
            <a:ext cx="2499299" cy="2015999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2600" b="1">
                <a:solidFill>
                  <a:srgbClr val="ADEA4B"/>
                </a:solidFill>
                <a:latin typeface="Calibri"/>
              </a:rPr>
              <a:t>Alloxentric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82DBD8"/>
                </a:solidFill>
                <a:latin typeface="Calibri"/>
              </a:rPr>
              <a:t>La propia empresa · Chile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Ambos canales y ambos agentes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2599" y="3096000"/>
            <a:ext cx="2499299" cy="2015999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2600" b="1">
                <a:solidFill>
                  <a:srgbClr val="ADEA4B"/>
                </a:solidFill>
                <a:latin typeface="Calibri"/>
              </a:rPr>
              <a:t>Directa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82DBD8"/>
                </a:solidFill>
                <a:latin typeface="Calibri"/>
              </a:rPr>
              <a:t>Asistente para directores · Chile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Usuarios ejecutivos, solo 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3900" y="3096000"/>
            <a:ext cx="2499299" cy="2015999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2600" b="1">
                <a:solidFill>
                  <a:srgbClr val="ADEA4B"/>
                </a:solidFill>
                <a:latin typeface="Calibri"/>
              </a:rPr>
              <a:t>Dani27001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82DBD8"/>
                </a:solidFill>
                <a:latin typeface="Calibri"/>
              </a:rPr>
              <a:t>Cumplimiento ISO 27001 · Chile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Portugués, sin agente comercial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5364000"/>
            <a:ext cx="10753200" cy="864000"/>
          </a:xfrm>
          <a:prstGeom prst="roundRect">
            <a:avLst>
              <a:gd name="adj" fmla="val 6000"/>
            </a:avLst>
          </a:prstGeom>
          <a:noFill/>
          <a:ln w="2540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  <a:r>
              <a:rPr sz="1939" b="1">
                <a:solidFill>
                  <a:srgbClr val="82DBD8"/>
                </a:solidFill>
                <a:latin typeface="Calibri"/>
              </a:rPr>
              <a:t>Ninguna empresa puede ver los datos de otra. Eso se verifica con pruebas automatizadas, no se declara.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CÓMO ESTÁ CONSTRUIDO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Arquitectura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2304000"/>
            <a:ext cx="10753200" cy="86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49A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72000" bIns="72000"/>
          <a:lstStyle/>
          <a:p>
            <a:pPr algn="l"/>
            <a:r>
              <a:rPr sz="1700" b="1">
                <a:solidFill>
                  <a:srgbClr val="06B7B2"/>
                </a:solidFill>
                <a:latin typeface="Calibri"/>
              </a:rPr>
              <a:t>INTERFACES</a:t>
            </a:r>
          </a:p>
          <a:p>
            <a:pPr algn="l">
              <a:spcBef>
                <a:spcPts val="600"/>
              </a:spcBef>
            </a:pPr>
            <a:r>
              <a:rPr sz="2100" b="0">
                <a:solidFill>
                  <a:srgbClr val="FFFFFF"/>
                </a:solidFill>
                <a:latin typeface="Calibri"/>
              </a:rPr>
              <a:t>Chat web · Widget · WhatsApp · Administración · Consola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52600" y="3175200"/>
            <a:ext cx="288000" cy="165600"/>
          </a:xfrm>
          <a:prstGeom prst="downArrow">
            <a:avLst/>
          </a:prstGeom>
          <a:solidFill>
            <a:srgbClr val="435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20000" y="3348000"/>
            <a:ext cx="10753200" cy="86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72000" bIns="72000"/>
          <a:lstStyle/>
          <a:p>
            <a:pPr algn="l"/>
            <a:r>
              <a:rPr sz="1700" b="1">
                <a:solidFill>
                  <a:srgbClr val="06B7B2"/>
                </a:solidFill>
                <a:latin typeface="Calibri"/>
              </a:rPr>
              <a:t>APLICACIÓN</a:t>
            </a:r>
          </a:p>
          <a:p>
            <a:pPr algn="l">
              <a:spcBef>
                <a:spcPts val="600"/>
              </a:spcBef>
            </a:pPr>
            <a:r>
              <a:rPr sz="2100" b="0">
                <a:solidFill>
                  <a:srgbClr val="FFFFFF"/>
                </a:solidFill>
                <a:latin typeface="Calibri"/>
              </a:rPr>
              <a:t>API REST · 76 servicios · control por rol y por empresa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52600" y="4219200"/>
            <a:ext cx="288000" cy="165600"/>
          </a:xfrm>
          <a:prstGeom prst="downArrow">
            <a:avLst/>
          </a:prstGeom>
          <a:solidFill>
            <a:srgbClr val="435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0000" y="4392000"/>
            <a:ext cx="10753200" cy="86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72000" bIns="72000"/>
          <a:lstStyle/>
          <a:p>
            <a:pPr algn="l"/>
            <a:r>
              <a:rPr sz="1700" b="1">
                <a:solidFill>
                  <a:srgbClr val="ADEA4B"/>
                </a:solidFill>
                <a:latin typeface="Calibri"/>
              </a:rPr>
              <a:t>DOMINIO</a:t>
            </a:r>
          </a:p>
          <a:p>
            <a:pPr algn="l">
              <a:spcBef>
                <a:spcPts val="600"/>
              </a:spcBef>
            </a:pPr>
            <a:r>
              <a:rPr sz="2100" b="0">
                <a:solidFill>
                  <a:srgbClr val="FFFFFF"/>
                </a:solidFill>
                <a:latin typeface="Calibri"/>
              </a:rPr>
              <a:t>Clasificador · agente técnico · agente comercial · derivación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52600" y="5263200"/>
            <a:ext cx="288000" cy="165600"/>
          </a:xfrm>
          <a:prstGeom prst="downArrow">
            <a:avLst/>
          </a:prstGeom>
          <a:solidFill>
            <a:srgbClr val="435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0000" y="5436000"/>
            <a:ext cx="10753200" cy="86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49A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72000" bIns="72000"/>
          <a:lstStyle/>
          <a:p>
            <a:pPr algn="l"/>
            <a:r>
              <a:rPr sz="1700" b="1">
                <a:solidFill>
                  <a:srgbClr val="06B7B2"/>
                </a:solidFill>
                <a:latin typeface="Calibri"/>
              </a:rPr>
              <a:t>DATOS Y SERVICIOS</a:t>
            </a:r>
          </a:p>
          <a:p>
            <a:pPr algn="l">
              <a:spcBef>
                <a:spcPts val="600"/>
              </a:spcBef>
            </a:pPr>
            <a:r>
              <a:rPr sz="2100" b="0">
                <a:solidFill>
                  <a:srgbClr val="FFFFFF"/>
                </a:solidFill>
                <a:latin typeface="Calibri"/>
              </a:rPr>
              <a:t>PostgreSQL vectorial · colas · almacenamiento · DeepSeek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MODELO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16 tablas, un solo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728000"/>
            <a:ext cx="107532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A1A9AC"/>
                </a:solidFill>
                <a:latin typeface="Calibri"/>
              </a:rPr>
              <a:t>Toda tabla lleva el identificador de la empresa, y se filtra por él.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3168000"/>
            <a:ext cx="2499299" cy="248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800" b="1">
                <a:solidFill>
                  <a:srgbClr val="06B7B2"/>
                </a:solidFill>
                <a:latin typeface="Calibri"/>
              </a:rPr>
              <a:t>IDENTIDAD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empresas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usuarios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sesiones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1299" y="3168000"/>
            <a:ext cx="2499299" cy="248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800" b="1">
                <a:solidFill>
                  <a:srgbClr val="06B7B2"/>
                </a:solidFill>
                <a:latin typeface="Calibri"/>
              </a:rPr>
              <a:t>CONOCIMIENTO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documentos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fragmentos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preguntas frecuentes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escaneos del sitio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2599" y="3168000"/>
            <a:ext cx="2499299" cy="248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800" b="1">
                <a:solidFill>
                  <a:srgbClr val="ADEA4B"/>
                </a:solidFill>
                <a:latin typeface="Calibri"/>
              </a:rPr>
              <a:t>CONVERSACIÓN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conversaciones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mensajes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tickets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sugerencias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3900" y="3168000"/>
            <a:ext cx="2499299" cy="248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82D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800" b="1">
                <a:solidFill>
                  <a:srgbClr val="82DBD8"/>
                </a:solidFill>
                <a:latin typeface="Calibri"/>
              </a:rPr>
              <a:t>OPERACIÓN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agentes del bot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consumo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configuración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18000"/>
            <a:ext cx="98171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A1A9AC"/>
                </a:solidFill>
                <a:latin typeface="Calibri"/>
              </a:rPr>
              <a:t>La búsqueda semántica vive junto a los datos que filtra: una sola base, sin fuentes duplicadas.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TECNOLOGÍA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 qué está hecho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2484000"/>
            <a:ext cx="5250600" cy="122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3600" bIns="93600"/>
          <a:lstStyle/>
          <a:p>
            <a:pPr algn="l"/>
            <a:r>
              <a:rPr sz="1600" b="1">
                <a:solidFill>
                  <a:srgbClr val="A1A9AC"/>
                </a:solidFill>
                <a:latin typeface="Calibri"/>
              </a:rPr>
              <a:t>BACKEND</a:t>
            </a:r>
          </a:p>
          <a:p>
            <a:pPr algn="l">
              <a:spcBef>
                <a:spcPts val="400"/>
              </a:spcBef>
            </a:pPr>
            <a:r>
              <a:rPr sz="2500" b="1">
                <a:solidFill>
                  <a:srgbClr val="ADEA4B"/>
                </a:solidFill>
                <a:latin typeface="Calibri"/>
              </a:rPr>
              <a:t>Python · FastAPI</a:t>
            </a:r>
          </a:p>
          <a:p>
            <a:pPr algn="l">
              <a:spcBef>
                <a:spcPts val="4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Mejor ecosistema para documentos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2599" y="2484000"/>
            <a:ext cx="5250600" cy="122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3600" bIns="93600"/>
          <a:lstStyle/>
          <a:p>
            <a:pPr algn="l"/>
            <a:r>
              <a:rPr sz="1600" b="1">
                <a:solidFill>
                  <a:srgbClr val="A1A9AC"/>
                </a:solidFill>
                <a:latin typeface="Calibri"/>
              </a:rPr>
              <a:t>BASE DE DATOS</a:t>
            </a:r>
          </a:p>
          <a:p>
            <a:pPr algn="l">
              <a:spcBef>
                <a:spcPts val="400"/>
              </a:spcBef>
            </a:pPr>
            <a:r>
              <a:rPr sz="2500" b="1">
                <a:solidFill>
                  <a:srgbClr val="ADEA4B"/>
                </a:solidFill>
                <a:latin typeface="Calibri"/>
              </a:rPr>
              <a:t>PostgreSQL · pgvector</a:t>
            </a:r>
          </a:p>
          <a:p>
            <a:pPr algn="l">
              <a:spcBef>
                <a:spcPts val="4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Datos y búsqueda en una sola 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3744000"/>
            <a:ext cx="5250600" cy="122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3600" bIns="93600"/>
          <a:lstStyle/>
          <a:p>
            <a:pPr algn="l"/>
            <a:r>
              <a:rPr sz="1600" b="1">
                <a:solidFill>
                  <a:srgbClr val="A1A9AC"/>
                </a:solidFill>
                <a:latin typeface="Calibri"/>
              </a:rPr>
              <a:t>FRONTEND</a:t>
            </a:r>
          </a:p>
          <a:p>
            <a:pPr algn="l">
              <a:spcBef>
                <a:spcPts val="400"/>
              </a:spcBef>
            </a:pPr>
            <a:r>
              <a:rPr sz="2500" b="1">
                <a:solidFill>
                  <a:srgbClr val="ADEA4B"/>
                </a:solidFill>
                <a:latin typeface="Calibri"/>
              </a:rPr>
              <a:t>React · Vite</a:t>
            </a:r>
          </a:p>
          <a:p>
            <a:pPr algn="l">
              <a:spcBef>
                <a:spcPts val="4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Administración, consola y chat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2599" y="3744000"/>
            <a:ext cx="5250600" cy="122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3600" bIns="93600"/>
          <a:lstStyle/>
          <a:p>
            <a:pPr algn="l"/>
            <a:r>
              <a:rPr sz="1600" b="1">
                <a:solidFill>
                  <a:srgbClr val="A1A9AC"/>
                </a:solidFill>
                <a:latin typeface="Calibri"/>
              </a:rPr>
              <a:t>MODELO DE LENGUAJE</a:t>
            </a:r>
          </a:p>
          <a:p>
            <a:pPr algn="l">
              <a:spcBef>
                <a:spcPts val="400"/>
              </a:spcBef>
            </a:pPr>
            <a:r>
              <a:rPr sz="2500" b="1">
                <a:solidFill>
                  <a:srgbClr val="ADEA4B"/>
                </a:solidFill>
                <a:latin typeface="Calibri"/>
              </a:rPr>
              <a:t>DeepSeek</a:t>
            </a:r>
          </a:p>
          <a:p>
            <a:pPr algn="l">
              <a:spcBef>
                <a:spcPts val="4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Clave por empresa, cifrada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5004000"/>
            <a:ext cx="5250600" cy="122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3600" bIns="93600"/>
          <a:lstStyle/>
          <a:p>
            <a:pPr algn="l"/>
            <a:r>
              <a:rPr sz="1600" b="1">
                <a:solidFill>
                  <a:srgbClr val="A1A9AC"/>
                </a:solidFill>
                <a:latin typeface="Calibri"/>
              </a:rPr>
              <a:t>TIEMPO REAL</a:t>
            </a:r>
          </a:p>
          <a:p>
            <a:pPr algn="l">
              <a:spcBef>
                <a:spcPts val="400"/>
              </a:spcBef>
            </a:pPr>
            <a:r>
              <a:rPr sz="2500" b="1">
                <a:solidFill>
                  <a:srgbClr val="ADEA4B"/>
                </a:solidFill>
                <a:latin typeface="Calibri"/>
              </a:rPr>
              <a:t>WebSockets</a:t>
            </a:r>
          </a:p>
          <a:p>
            <a:pPr algn="l">
              <a:spcBef>
                <a:spcPts val="4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Chat en vivo y avisos a la consola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2599" y="5004000"/>
            <a:ext cx="5250600" cy="122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93600" bIns="93600"/>
          <a:lstStyle/>
          <a:p>
            <a:pPr algn="l"/>
            <a:r>
              <a:rPr sz="1600" b="1">
                <a:solidFill>
                  <a:srgbClr val="A1A9AC"/>
                </a:solidFill>
                <a:latin typeface="Calibri"/>
              </a:rPr>
              <a:t>CALIDAD</a:t>
            </a:r>
          </a:p>
          <a:p>
            <a:pPr algn="l">
              <a:spcBef>
                <a:spcPts val="400"/>
              </a:spcBef>
            </a:pPr>
            <a:r>
              <a:rPr sz="2500" b="1">
                <a:solidFill>
                  <a:srgbClr val="ADEA4B"/>
                </a:solidFill>
                <a:latin typeface="Calibri"/>
              </a:rPr>
              <a:t>Pruebas automatizadas</a:t>
            </a:r>
          </a:p>
          <a:p>
            <a:pPr algn="l">
              <a:spcBef>
                <a:spcPts val="4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El aislamiento bloquea la integración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ALCANCE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Qué entra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2448000"/>
            <a:ext cx="5196600" cy="345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639" b="1">
                <a:solidFill>
                  <a:srgbClr val="ADEA4B"/>
                </a:solidFill>
                <a:latin typeface="Calibri"/>
              </a:rPr>
              <a:t>DENTRO</a:t>
            </a:r>
          </a:p>
          <a:p>
            <a:pPr algn="l">
              <a:lnSpc>
                <a:spcPct val="115000"/>
              </a:lnSpc>
              <a:spcBef>
                <a:spcPts val="910"/>
              </a:spcBef>
            </a:pPr>
            <a:r>
              <a:rPr sz="1730" b="0">
                <a:solidFill>
                  <a:srgbClr val="E7E9EA"/>
                </a:solidFill>
                <a:latin typeface="Calibri"/>
              </a:rPr>
              <a:t>·  Administración multi-tenant en tres idiomas</a:t>
            </a:r>
          </a:p>
          <a:p>
            <a:pPr algn="l">
              <a:lnSpc>
                <a:spcPct val="115000"/>
              </a:lnSpc>
              <a:spcBef>
                <a:spcPts val="910"/>
              </a:spcBef>
            </a:pPr>
            <a:r>
              <a:rPr sz="1730" b="0">
                <a:solidFill>
                  <a:srgbClr val="E7E9EA"/>
                </a:solidFill>
                <a:latin typeface="Calibri"/>
              </a:rPr>
              <a:t>·  Documentos, preguntas frecuentes y escaneo del sitio</a:t>
            </a:r>
          </a:p>
          <a:p>
            <a:pPr algn="l">
              <a:lnSpc>
                <a:spcPct val="115000"/>
              </a:lnSpc>
              <a:spcBef>
                <a:spcPts val="910"/>
              </a:spcBef>
            </a:pPr>
            <a:r>
              <a:rPr sz="1730" b="0">
                <a:solidFill>
                  <a:srgbClr val="E7E9EA"/>
                </a:solidFill>
                <a:latin typeface="Calibri"/>
              </a:rPr>
              <a:t>·  Dos agentes del bot por empresa</a:t>
            </a:r>
          </a:p>
          <a:p>
            <a:pPr algn="l">
              <a:lnSpc>
                <a:spcPct val="115000"/>
              </a:lnSpc>
              <a:spcBef>
                <a:spcPts val="910"/>
              </a:spcBef>
            </a:pPr>
            <a:r>
              <a:rPr sz="1730" b="0">
                <a:solidFill>
                  <a:srgbClr val="E7E9EA"/>
                </a:solidFill>
                <a:latin typeface="Calibri"/>
              </a:rPr>
              <a:t>·  Chat web, widget embebible y WhatsApp</a:t>
            </a:r>
          </a:p>
          <a:p>
            <a:pPr algn="l">
              <a:lnSpc>
                <a:spcPct val="115000"/>
              </a:lnSpc>
              <a:spcBef>
                <a:spcPts val="910"/>
              </a:spcBef>
            </a:pPr>
            <a:r>
              <a:rPr sz="1730" b="0">
                <a:solidFill>
                  <a:srgbClr val="E7E9EA"/>
                </a:solidFill>
                <a:latin typeface="Calibri"/>
              </a:rPr>
              <a:t>·  Derivación a persona: en vivo o por ticket</a:t>
            </a:r>
          </a:p>
          <a:p>
            <a:pPr algn="l">
              <a:lnSpc>
                <a:spcPct val="115000"/>
              </a:lnSpc>
              <a:spcBef>
                <a:spcPts val="910"/>
              </a:spcBef>
            </a:pPr>
            <a:r>
              <a:rPr sz="1730" b="0">
                <a:solidFill>
                  <a:srgbClr val="E7E9EA"/>
                </a:solidFill>
                <a:latin typeface="Calibri"/>
              </a:rPr>
              <a:t>·  Dashboards y consumo por período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6600" y="2448000"/>
            <a:ext cx="5196600" cy="3456000"/>
          </a:xfrm>
          <a:prstGeom prst="roundRect">
            <a:avLst>
              <a:gd name="adj" fmla="val 6000"/>
            </a:avLst>
          </a:prstGeom>
          <a:noFill/>
          <a:ln w="25400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800" b="1">
                <a:solidFill>
                  <a:srgbClr val="A1A9AC"/>
                </a:solidFill>
                <a:latin typeface="Calibri"/>
              </a:rPr>
              <a:t>FUERA DE ESTA VERSIÓN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900" b="0">
                <a:solidFill>
                  <a:srgbClr val="A1A9AC"/>
                </a:solidFill>
                <a:latin typeface="Calibri"/>
              </a:rPr>
              <a:t>·  Atención humana por WhatsApp — el bot sí opera ahí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900" b="0">
                <a:solidFill>
                  <a:srgbClr val="A1A9AC"/>
                </a:solidFill>
                <a:latin typeface="Calibri"/>
              </a:rPr>
              <a:t>·  Telefonía, Telegram y redes sociales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900" b="0">
                <a:solidFill>
                  <a:srgbClr val="A1A9AC"/>
                </a:solidFill>
                <a:latin typeface="Calibri"/>
              </a:rPr>
              <a:t>·  Facturación automática por uso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PLAN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Seis fases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728000"/>
            <a:ext cx="107532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A1A9AC"/>
                </a:solidFill>
                <a:latin typeface="Calibri"/>
              </a:rPr>
              <a:t>Cada fase entrega una parte funcional y verificable, no un documento.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3060000"/>
            <a:ext cx="1642200" cy="1800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20000" y="3240000"/>
            <a:ext cx="1642200" cy="237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3400" b="1">
                <a:solidFill>
                  <a:srgbClr val="ADEA4B"/>
                </a:solidFill>
                <a:latin typeface="Calibri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2100" b="1">
                <a:solidFill>
                  <a:srgbClr val="FFFFFF"/>
                </a:solidFill>
                <a:latin typeface="Calibri"/>
              </a:rPr>
              <a:t>Fundaciones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Multi-tenant y accesos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42200" y="3060000"/>
            <a:ext cx="1642200" cy="1800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42200" y="3240000"/>
            <a:ext cx="1642200" cy="237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3400" b="1">
                <a:solidFill>
                  <a:srgbClr val="ADEA4B"/>
                </a:solidFill>
                <a:latin typeface="Calibri"/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2100" b="1">
                <a:solidFill>
                  <a:srgbClr val="FFFFFF"/>
                </a:solidFill>
                <a:latin typeface="Calibri"/>
              </a:rPr>
              <a:t>Ingesta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Documentos y sitio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4400" y="3060000"/>
            <a:ext cx="1642200" cy="1800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64400" y="3240000"/>
            <a:ext cx="1642200" cy="237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3400" b="1">
                <a:solidFill>
                  <a:srgbClr val="ADEA4B"/>
                </a:solidFill>
                <a:latin typeface="Calibri"/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2100" b="1">
                <a:solidFill>
                  <a:srgbClr val="FFFFFF"/>
                </a:solidFill>
                <a:latin typeface="Calibri"/>
              </a:rPr>
              <a:t>Chat RAG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Clasificador y agentes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6600" y="3060000"/>
            <a:ext cx="1642200" cy="1800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86600" y="3240000"/>
            <a:ext cx="1642200" cy="237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3400" b="1">
                <a:solidFill>
                  <a:srgbClr val="ADEA4B"/>
                </a:solidFill>
                <a:latin typeface="Calibri"/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2100" b="1">
                <a:solidFill>
                  <a:srgbClr val="FFFFFF"/>
                </a:solidFill>
                <a:latin typeface="Calibri"/>
              </a:rPr>
              <a:t>Derivación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Consola y tickets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8800" y="3060000"/>
            <a:ext cx="1642200" cy="1800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08800" y="3240000"/>
            <a:ext cx="1642200" cy="237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3400" b="1">
                <a:solidFill>
                  <a:srgbClr val="06B7B2"/>
                </a:solidFill>
                <a:latin typeface="Calibri"/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2100" b="1">
                <a:solidFill>
                  <a:srgbClr val="FFFFFF"/>
                </a:solidFill>
                <a:latin typeface="Calibri"/>
              </a:rPr>
              <a:t>WhatsApp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El bot por WhatsApp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31000" y="3060000"/>
            <a:ext cx="1642200" cy="1800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31000" y="3240000"/>
            <a:ext cx="1642200" cy="237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5875">
            <a:solidFill>
              <a:srgbClr val="435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3400" b="1">
                <a:solidFill>
                  <a:srgbClr val="06B7B2"/>
                </a:solidFill>
                <a:latin typeface="Calibri"/>
              </a:rPr>
              <a:t>6</a:t>
            </a:r>
          </a:p>
          <a:p>
            <a:pPr algn="l">
              <a:spcBef>
                <a:spcPts val="400"/>
              </a:spcBef>
            </a:pPr>
            <a:r>
              <a:rPr sz="2100" b="1">
                <a:solidFill>
                  <a:srgbClr val="FFFFFF"/>
                </a:solidFill>
                <a:latin typeface="Calibri"/>
              </a:rPr>
              <a:t>Producción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Métricas y puesta en marcha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6318000"/>
            <a:ext cx="98171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A1A9AC"/>
                </a:solidFill>
                <a:latin typeface="Calibri"/>
              </a:rPr>
              <a:t>18 semanas · Fase 1 definición · Fase 2 desarrollo y verificación · Fase 3 presentación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Cómo trabajamos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2448000"/>
            <a:ext cx="5196600" cy="360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800" b="1">
                <a:solidFill>
                  <a:srgbClr val="06B7B2"/>
                </a:solidFill>
                <a:latin typeface="Calibri"/>
              </a:rPr>
              <a:t>SCRUM ADAPTADO</a:t>
            </a:r>
          </a:p>
          <a:p>
            <a:pPr algn="l">
              <a:lnSpc>
                <a:spcPct val="115000"/>
              </a:lnSpc>
              <a:spcBef>
                <a:spcPts val="11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·  Iteraciones de dos semanas</a:t>
            </a:r>
          </a:p>
          <a:p>
            <a:pPr algn="l">
              <a:lnSpc>
                <a:spcPct val="115000"/>
              </a:lnSpc>
              <a:spcBef>
                <a:spcPts val="11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·  Reunión diaria asíncrona por escrito</a:t>
            </a:r>
          </a:p>
          <a:p>
            <a:pPr algn="l">
              <a:lnSpc>
                <a:spcPct val="115000"/>
              </a:lnSpc>
              <a:spcBef>
                <a:spcPts val="11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·  Revisión con demostración real del sistema</a:t>
            </a:r>
          </a:p>
          <a:p>
            <a:pPr algn="l">
              <a:lnSpc>
                <a:spcPct val="115000"/>
              </a:lnSpc>
              <a:spcBef>
                <a:spcPts val="11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·  Todo entra por revisión, con integración continua en verde</a:t>
            </a:r>
          </a:p>
          <a:p>
            <a:pPr algn="l">
              <a:lnSpc>
                <a:spcPct val="115000"/>
              </a:lnSpc>
              <a:spcBef>
                <a:spcPts val="1100"/>
              </a:spcBef>
            </a:pPr>
            <a:r>
              <a:rPr sz="1900" b="0">
                <a:solidFill>
                  <a:srgbClr val="E7E9EA"/>
                </a:solidFill>
                <a:latin typeface="Calibri"/>
              </a:rPr>
              <a:t>·  Decisiones de arquitectura escritas y versionadas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6600" y="2448000"/>
            <a:ext cx="5196600" cy="3600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800" b="1">
                <a:solidFill>
                  <a:srgbClr val="ADEA4B"/>
                </a:solidFill>
                <a:latin typeface="Calibri"/>
              </a:rPr>
              <a:t>EL EQUIPO</a:t>
            </a:r>
          </a:p>
          <a:p>
            <a:pPr algn="l">
              <a:spcBef>
                <a:spcPts val="11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Exequiel Alvarado</a:t>
            </a: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A1A9AC"/>
                </a:solidFill>
                <a:latin typeface="Calibri"/>
              </a:rPr>
              <a:t>Desarrollo (backend, frontend, infraestructura)</a:t>
            </a:r>
          </a:p>
          <a:p>
            <a:pPr algn="l">
              <a:spcBef>
                <a:spcPts val="11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Diana Guerrero</a:t>
            </a: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A1A9AC"/>
                </a:solidFill>
                <a:latin typeface="Calibri"/>
              </a:rPr>
              <a:t>Coordinación / Product Owner, planificación Jira</a:t>
            </a:r>
          </a:p>
          <a:p>
            <a:pPr algn="l">
              <a:spcBef>
                <a:spcPts val="11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Cristian Jorquera</a:t>
            </a: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A1A9AC"/>
                </a:solidFill>
                <a:latin typeface="Calibri"/>
              </a:rPr>
              <a:t>Aseguramiento de calidad, historias de usuario</a:t>
            </a:r>
          </a:p>
          <a:p>
            <a:pPr algn="l">
              <a:spcBef>
                <a:spcPts val="11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Manuel Jansen</a:t>
            </a: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A1A9AC"/>
                </a:solidFill>
                <a:latin typeface="Calibri"/>
              </a:rPr>
              <a:t>Diseño de interfaz y mockups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CÓMO LLEGAMOS HASTA AQUÍ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El proyecto cambió a mitad de camino</a:t>
            </a:r>
          </a:p>
        </p:txBody>
      </p:sp>
      <p:sp>
        <p:nvSpPr>
          <p:cNvPr id="5" name="Rectangle 4"/>
          <p:cNvSpPr/>
          <p:nvPr/>
        </p:nvSpPr>
        <p:spPr>
          <a:xfrm>
            <a:off x="1260000" y="2736000"/>
            <a:ext cx="9673200" cy="28800"/>
          </a:xfrm>
          <a:prstGeom prst="rect">
            <a:avLst/>
          </a:prstGeom>
          <a:solidFill>
            <a:srgbClr val="435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267400" y="2649600"/>
            <a:ext cx="201600" cy="201600"/>
          </a:xfrm>
          <a:prstGeom prst="roundRect">
            <a:avLst>
              <a:gd name="adj" fmla="val 6000"/>
            </a:avLst>
          </a:prstGeom>
          <a:solidFill>
            <a:srgbClr val="A1A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20000" y="3060000"/>
            <a:ext cx="3296400" cy="266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9050">
            <a:solidFill>
              <a:srgbClr val="A1A9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500" b="1">
                <a:solidFill>
                  <a:srgbClr val="A1A9AC"/>
                </a:solidFill>
                <a:latin typeface="Calibri"/>
              </a:rPr>
              <a:t>SEMANAS 1 A 4</a:t>
            </a:r>
          </a:p>
          <a:p>
            <a:pPr algn="l">
              <a:spcBef>
                <a:spcPts val="800"/>
              </a:spcBef>
            </a:pPr>
            <a:r>
              <a:rPr sz="2800" b="1">
                <a:solidFill>
                  <a:srgbClr val="FFFFFF"/>
                </a:solidFill>
                <a:latin typeface="Calibri"/>
              </a:rPr>
              <a:t>Definimos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Levantamos el problema, acotamos el alcance a lo que una persona puede programar y diseñamos la arquitectura.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95799" y="2649600"/>
            <a:ext cx="201600" cy="201600"/>
          </a:xfrm>
          <a:prstGeom prst="roundRect">
            <a:avLst>
              <a:gd name="adj" fmla="val 6000"/>
            </a:avLst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48400" y="3060000"/>
            <a:ext cx="3296400" cy="2664000"/>
          </a:xfrm>
          <a:prstGeom prst="roundRect">
            <a:avLst>
              <a:gd name="adj" fmla="val 6000"/>
            </a:avLst>
          </a:prstGeom>
          <a:solidFill>
            <a:srgbClr val="046B74"/>
          </a:solidFill>
          <a:ln w="3175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500" b="1">
                <a:solidFill>
                  <a:srgbClr val="ADEA4B"/>
                </a:solidFill>
                <a:latin typeface="Calibri"/>
              </a:rPr>
              <a:t>28 DE AGOSTO</a:t>
            </a:r>
          </a:p>
          <a:p>
            <a:pPr algn="l">
              <a:spcBef>
                <a:spcPts val="800"/>
              </a:spcBef>
            </a:pPr>
            <a:r>
              <a:rPr sz="2800" b="1">
                <a:solidFill>
                  <a:srgbClr val="FFFFFF"/>
                </a:solidFill>
                <a:latin typeface="Calibri"/>
              </a:rPr>
              <a:t>Nos lo entregaron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La empresa nos pasó el proyecto ya implementado: backend, frontend y la especificación completa de su 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24199" y="2649600"/>
            <a:ext cx="201600" cy="201600"/>
          </a:xfrm>
          <a:prstGeom prst="roundRect">
            <a:avLst>
              <a:gd name="adj" fmla="val 6000"/>
            </a:avLst>
          </a:prstGeom>
          <a:solidFill>
            <a:srgbClr val="0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76799" y="3060000"/>
            <a:ext cx="3296400" cy="266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1905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500" b="1">
                <a:solidFill>
                  <a:srgbClr val="06B7B2"/>
                </a:solidFill>
                <a:latin typeface="Calibri"/>
              </a:rPr>
              <a:t>DESDE AHORA</a:t>
            </a:r>
          </a:p>
          <a:p>
            <a:pPr algn="l">
              <a:spcBef>
                <a:spcPts val="800"/>
              </a:spcBef>
            </a:pPr>
            <a:r>
              <a:rPr sz="2800" b="1">
                <a:solidFill>
                  <a:srgbClr val="FFFFFF"/>
                </a:solidFill>
                <a:latin typeface="Calibri"/>
              </a:rPr>
              <a:t>Verificamos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Deja de ser construir la plataforma: hay que ponerla a funcionar de verdad, medirla y cerrar lo que falta.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6318000"/>
            <a:ext cx="98171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A1A9AC"/>
                </a:solidFill>
                <a:latin typeface="Calibri"/>
              </a:rPr>
              <a:t>La planificación de la Fase 1 se conserva como registro del trabajo hecho.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Y CÓMO LO COMPROBAMOS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Lo que recibimos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728000"/>
            <a:ext cx="107532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A1A9AC"/>
                </a:solidFill>
                <a:latin typeface="Calibri"/>
              </a:rPr>
              <a:t>No nos fiamos de su documentación: contamos y ejecutamos.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2484000"/>
            <a:ext cx="2499299" cy="1728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  <a:r>
              <a:rPr sz="5600" b="1">
                <a:solidFill>
                  <a:srgbClr val="ADEA4B"/>
                </a:solidFill>
                <a:latin typeface="Calibri"/>
              </a:rPr>
              <a:t>76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servicios de la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1299" y="2484000"/>
            <a:ext cx="2499299" cy="1728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  <a:r>
              <a:rPr sz="5600" b="1">
                <a:solidFill>
                  <a:srgbClr val="ADEA4B"/>
                </a:solidFill>
                <a:latin typeface="Calibri"/>
              </a:rPr>
              <a:t>16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tablas del modelo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2599" y="2484000"/>
            <a:ext cx="2499299" cy="1728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  <a:r>
              <a:rPr sz="5600" b="1">
                <a:solidFill>
                  <a:srgbClr val="ADEA4B"/>
                </a:solidFill>
                <a:latin typeface="Calibri"/>
              </a:rPr>
              <a:t>15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servicios de dominio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3900" y="2484000"/>
            <a:ext cx="2499299" cy="1728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  <a:r>
              <a:rPr sz="5600" b="1">
                <a:solidFill>
                  <a:srgbClr val="ADEA4B"/>
                </a:solidFill>
                <a:latin typeface="Calibri"/>
              </a:rPr>
              <a:t>14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rgbClr val="E7E9EA"/>
                </a:solidFill>
                <a:latin typeface="Calibri"/>
              </a:rPr>
              <a:t>pantallas del frontend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000" y="4356000"/>
            <a:ext cx="43200" cy="522000"/>
          </a:xfrm>
          <a:prstGeom prst="rect">
            <a:avLst/>
          </a:prstGeom>
          <a:solidFill>
            <a:srgbClr val="0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4356000"/>
            <a:ext cx="4752000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Contamos los servicios uno a uno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32000" y="4374000"/>
            <a:ext cx="5400000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E7E9EA"/>
                </a:solidFill>
                <a:latin typeface="Calibri"/>
              </a:rPr>
              <a:t>Coinciden con su especificación, grupo por grupo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000" y="4986000"/>
            <a:ext cx="43200" cy="522000"/>
          </a:xfrm>
          <a:prstGeom prst="rect">
            <a:avLst/>
          </a:prstGeom>
          <a:solidFill>
            <a:srgbClr val="0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6000" y="4986000"/>
            <a:ext cx="4752000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Ejecutamos su batería de pruebas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32000" y="5004000"/>
            <a:ext cx="5400000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E7E9EA"/>
                </a:solidFill>
                <a:latin typeface="Calibri"/>
              </a:rPr>
              <a:t>16 pruebas, todas en verde, en 20 segundos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000" y="5616000"/>
            <a:ext cx="43200" cy="522000"/>
          </a:xfrm>
          <a:prstGeom prst="rect">
            <a:avLst/>
          </a:prstGeom>
          <a:solidFill>
            <a:srgbClr val="0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000" y="5616000"/>
            <a:ext cx="4752000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Leímos la migración de la 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32000" y="5634000"/>
            <a:ext cx="5400000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E7E9EA"/>
                </a:solidFill>
                <a:latin typeface="Calibri"/>
              </a:rPr>
              <a:t>Ahí vimos que el aislamiento no está en la 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PRÓXIMOS PASOS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Lo que falta cerrar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2484000"/>
            <a:ext cx="50400" cy="7560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2000" y="24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ADEA4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0000" y="2466000"/>
            <a:ext cx="96012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Aislamiento entre empresas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A1A9AC"/>
                </a:solidFill>
                <a:latin typeface="Calibri"/>
              </a:rPr>
              <a:t>Hoy lo verifica una prueba sobre un servicio de 76. Hay que cubrirlos todos.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384000"/>
            <a:ext cx="50400" cy="7560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2000" y="33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ADEA4B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0" y="3366000"/>
            <a:ext cx="96012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Calidad de las respuestas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A1A9AC"/>
                </a:solidFill>
                <a:latin typeface="Calibri"/>
              </a:rPr>
              <a:t>Sin preguntas de prueba con respuesta esperada, no hay resultados que mostrar.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000" y="4284000"/>
            <a:ext cx="50400" cy="756000"/>
          </a:xfrm>
          <a:prstGeom prst="rect">
            <a:avLst/>
          </a:prstGeom>
          <a:solidFill>
            <a:srgbClr val="0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42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6B7B2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0000" y="4266000"/>
            <a:ext cx="96012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Clasificador de intención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A1A9AC"/>
                </a:solidFill>
                <a:latin typeface="Calibri"/>
              </a:rPr>
              <a:t>Hoy decide por palabras clave. Necesita medirse con una matriz de confusión.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000" y="5184000"/>
            <a:ext cx="50400" cy="756000"/>
          </a:xfrm>
          <a:prstGeom prst="rect">
            <a:avLst/>
          </a:prstGeom>
          <a:solidFill>
            <a:srgbClr val="0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000" y="51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6B7B2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0000" y="5166000"/>
            <a:ext cx="96012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Puesta en producción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A1A9AC"/>
                </a:solidFill>
                <a:latin typeface="Calibri"/>
              </a:rPr>
              <a:t>Falta decidir dónde se despliega y con qué proveedor de búsqueda semántica.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6318000"/>
            <a:ext cx="98171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A1A9AC"/>
                </a:solidFill>
                <a:latin typeface="Calibri"/>
              </a:rPr>
              <a:t>Las cuatro son verificables: o la prueba pasa, o no pasa.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EL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Cómo lo vamos a abordar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2484000"/>
            <a:ext cx="3392399" cy="1800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2664000"/>
            <a:ext cx="3392399" cy="302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500" b="1">
                <a:solidFill>
                  <a:srgbClr val="ADEA4B"/>
                </a:solidFill>
                <a:latin typeface="Calibri"/>
              </a:rPr>
              <a:t>PRIMERO</a:t>
            </a:r>
          </a:p>
          <a:p>
            <a:pPr algn="l">
              <a:spcBef>
                <a:spcPts val="600"/>
              </a:spcBef>
            </a:pPr>
            <a:r>
              <a:rPr sz="2700" b="1">
                <a:solidFill>
                  <a:srgbClr val="FFFFFF"/>
                </a:solidFill>
                <a:latin typeface="Calibri"/>
              </a:rPr>
              <a:t>Desbloquear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·  Levantar el sistema entero y capturar evidencias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·  Decidir el proveedor de búsqueda semántica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·  Dar de alta a los cuatro clientes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0400" y="2484000"/>
            <a:ext cx="3392399" cy="180000"/>
          </a:xfrm>
          <a:prstGeom prst="rect">
            <a:avLst/>
          </a:prstGeom>
          <a:solidFill>
            <a:srgbClr val="0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0400" y="2664000"/>
            <a:ext cx="3392399" cy="302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06B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500" b="1">
                <a:solidFill>
                  <a:srgbClr val="06B7B2"/>
                </a:solidFill>
                <a:latin typeface="Calibri"/>
              </a:rPr>
              <a:t>DESPUÉS</a:t>
            </a:r>
          </a:p>
          <a:p>
            <a:pPr algn="l">
              <a:spcBef>
                <a:spcPts val="600"/>
              </a:spcBef>
            </a:pPr>
            <a:r>
              <a:rPr sz="2700" b="1">
                <a:solidFill>
                  <a:srgbClr val="FFFFFF"/>
                </a:solidFill>
                <a:latin typeface="Calibri"/>
              </a:rPr>
              <a:t>Cerrar las brechas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·  Aislamiento probado en todos los servicios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·  Set de preguntas por cliente y por agente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·  Clasificador medido con matriz de confusión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8080800" y="2484000"/>
            <a:ext cx="3392399" cy="180000"/>
          </a:xfrm>
          <a:prstGeom prst="rect">
            <a:avLst/>
          </a:prstGeom>
          <a:solidFill>
            <a:srgbClr val="82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80800" y="2664000"/>
            <a:ext cx="3392399" cy="3024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 w="25400">
            <a:solidFill>
              <a:srgbClr val="82D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l"/>
            <a:r>
              <a:rPr sz="1500" b="1">
                <a:solidFill>
                  <a:srgbClr val="82DBD8"/>
                </a:solidFill>
                <a:latin typeface="Calibri"/>
              </a:rPr>
              <a:t>EN MARCHA</a:t>
            </a:r>
          </a:p>
          <a:p>
            <a:pPr algn="l">
              <a:spcBef>
                <a:spcPts val="600"/>
              </a:spcBef>
            </a:pPr>
            <a:r>
              <a:rPr sz="2700" b="1">
                <a:solidFill>
                  <a:srgbClr val="FFFFFF"/>
                </a:solidFill>
                <a:latin typeface="Calibri"/>
              </a:rPr>
              <a:t>Producción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·  Desplegar con los cuatro clientes cargados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·  Iniciar el trámite de WhatsApp en paralelo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700" b="0">
                <a:solidFill>
                  <a:srgbClr val="E7E9EA"/>
                </a:solidFill>
                <a:latin typeface="Calibri"/>
              </a:rPr>
              <a:t>·  Informe, video y ensayo de la defensa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5868000"/>
            <a:ext cx="10753200" cy="540000"/>
          </a:xfrm>
          <a:prstGeom prst="roundRect">
            <a:avLst>
              <a:gd name="adj" fmla="val 6000"/>
            </a:avLst>
          </a:prstGeom>
          <a:noFill/>
          <a:ln w="25400">
            <a:solidFill>
              <a:srgbClr val="ADE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64800" bIns="64800"/>
          <a:lstStyle/>
          <a:p>
            <a:pPr algn="ctr"/>
            <a:r>
              <a:rPr sz="2000" b="1">
                <a:solidFill>
                  <a:srgbClr val="ADEA4B"/>
                </a:solidFill>
                <a:latin typeface="Calibri"/>
              </a:rPr>
              <a:t>Lo que aportamos no es el código: es que funcione, esté medido y esté desplegado.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540000"/>
            <a:ext cx="792000" cy="576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702000"/>
            <a:ext cx="1075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DEA4B"/>
                </a:solidFill>
                <a:latin typeface="Calibri"/>
              </a:rPr>
              <a:t>GESTIÓN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7532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Riesgos y cómo los cubrimos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2484000"/>
            <a:ext cx="10753200" cy="75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2484000"/>
            <a:ext cx="50400" cy="7560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7999" y="2574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Fuga de datos entre empresas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592000"/>
            <a:ext cx="607319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7E9EA"/>
                </a:solidFill>
                <a:latin typeface="Calibri"/>
              </a:rPr>
              <a:t>Filtrado por empresa en cada consulta y pruebas que bloquean la integración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3384000"/>
            <a:ext cx="10753200" cy="75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0000" y="3384000"/>
            <a:ext cx="50400" cy="756000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7999" y="3474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Respuestas inventadas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0000" y="3492000"/>
            <a:ext cx="607319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7E9EA"/>
                </a:solidFill>
                <a:latin typeface="Calibri"/>
              </a:rPr>
              <a:t>El bot responde solo con los pasajes recuperados, o deriva a una persona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4284000"/>
            <a:ext cx="10753200" cy="75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0000" y="4284000"/>
            <a:ext cx="50400" cy="756000"/>
          </a:xfrm>
          <a:prstGeom prst="rect">
            <a:avLst/>
          </a:prstGeom>
          <a:solidFill>
            <a:srgbClr val="E8B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999" y="4374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Verificación de WhatsApp ante Meta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0000" y="4392000"/>
            <a:ext cx="607319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7E9EA"/>
                </a:solidFill>
                <a:latin typeface="Calibri"/>
              </a:rPr>
              <a:t>Demora semanas y no depende de nosotros: el trámite parte de inmediato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000" y="5184000"/>
            <a:ext cx="10753200" cy="756000"/>
          </a:xfrm>
          <a:prstGeom prst="roundRect">
            <a:avLst>
              <a:gd name="adj" fmla="val 6000"/>
            </a:avLst>
          </a:prstGeom>
          <a:solidFill>
            <a:srgbClr val="223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0000" y="5184000"/>
            <a:ext cx="50400" cy="756000"/>
          </a:xfrm>
          <a:prstGeom prst="rect">
            <a:avLst/>
          </a:prstGeom>
          <a:solidFill>
            <a:srgbClr val="0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7999" y="5274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Costo de los modelos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0000" y="5292000"/>
            <a:ext cx="607319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7E9EA"/>
                </a:solidFill>
                <a:latin typeface="Calibri"/>
              </a:rPr>
              <a:t>Clave por empresa, límites configurables y consumo medido por período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5999"/>
          </a:xfrm>
          <a:prstGeom prst="rect">
            <a:avLst/>
          </a:prstGeom>
          <a:solidFill>
            <a:srgbClr val="AD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872000"/>
            <a:ext cx="9360000" cy="21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Una primera línea de atención</a:t>
            </a:r>
          </a:p>
          <a:p>
            <a:pPr algn="l">
              <a:lnSpc>
                <a:spcPct val="105000"/>
              </a:lnSpc>
            </a:pPr>
            <a:r>
              <a:rPr sz="4600" b="1">
                <a:solidFill>
                  <a:srgbClr val="ADEA4B"/>
                </a:solidFill>
                <a:latin typeface="Calibri"/>
              </a:rPr>
              <a:t>que no hay que construir dos veces.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4176000"/>
            <a:ext cx="1080000" cy="36000"/>
          </a:xfrm>
          <a:prstGeom prst="rect">
            <a:avLst/>
          </a:prstGeom>
          <a:solidFill>
            <a:srgbClr val="0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4428000"/>
            <a:ext cx="712800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82DBD8"/>
                </a:solidFill>
                <a:latin typeface="Calibri"/>
              </a:rPr>
              <a:t>Clientes iniciales: WellQ, Alloxentric, Directa y Dani27001</a:t>
            </a:r>
          </a:p>
          <a:p>
            <a:pPr algn="l">
              <a:spcBef>
                <a:spcPts val="800"/>
              </a:spcBef>
            </a:pPr>
            <a:r>
              <a:rPr sz="1800" b="0">
                <a:solidFill>
                  <a:srgbClr val="A1A9AC"/>
                </a:solidFill>
                <a:latin typeface="Calibri"/>
              </a:rPr>
              <a:t>Presentación final: 4 de diciembre de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61199" y="5058000"/>
            <a:ext cx="3311999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25999" bIns="125999"/>
          <a:lstStyle/>
          <a:p>
            <a:pPr algn="ctr"/>
          </a:p>
        </p:txBody>
      </p:sp>
      <p:pic>
        <p:nvPicPr>
          <p:cNvPr id="7" name="Picture 6" descr="Alloxentric-logo-ful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3200" y="5328000"/>
            <a:ext cx="2808000" cy="64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53200" y="6318000"/>
            <a:ext cx="7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A1A9AC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